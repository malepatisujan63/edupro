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C62828"/>
                </a:solidFill>
                <a:latin typeface="Century Gothic"/>
              </a:defRPr>
            </a:pPr>
            <a:r>
              <a:t>KOINEXA</a:t>
            </a:r>
          </a:p>
          <a:p>
            <a:pPr algn="ctr">
              <a:spcBef>
                <a:spcPts val="800"/>
              </a:spcBef>
              <a:spcAft>
                <a:spcPts val="1600"/>
              </a:spcAft>
              <a:defRPr sz="1800" b="1">
                <a:solidFill>
                  <a:srgbClr val="E65100"/>
                </a:solidFill>
                <a:latin typeface="Century Gothic"/>
              </a:defRPr>
            </a:pPr>
            <a:r>
              <a:t>Next-Gen Social Learning &amp; High-Throughput Competitive Coding Platform</a:t>
            </a:r>
          </a:p>
          <a:p>
            <a:pPr algn="ctr">
              <a:defRPr sz="1300" b="1">
                <a:solidFill>
                  <a:srgbClr val="111827"/>
                </a:solidFill>
                <a:latin typeface="Century Gothic"/>
              </a:defRPr>
            </a:pPr>
            <a:r>
              <a:t>In-Memory DSA Engine  |  High-Stakes CBT Security  |  Polyglot Sandbox Isolation</a:t>
            </a:r>
          </a:p>
          <a:p>
            <a:pPr algn="ctr">
              <a:spcAft>
                <a:spcPts val="2800"/>
              </a:spcAft>
              <a:defRPr sz="1100">
                <a:solidFill>
                  <a:srgbClr val="4B5563"/>
                </a:solidFill>
                <a:latin typeface="Century Gothic"/>
              </a:defRPr>
            </a:pPr>
            <a:r>
              <a:t>Veritas-AI Educator Vetting  ·  Austin &amp; Searle Speech-Act Moderation  ·  MLF Indic De-agglutination</a:t>
            </a:r>
          </a:p>
          <a:p>
            <a:pPr algn="ctr">
              <a:defRPr sz="1150" b="1">
                <a:solidFill>
                  <a:srgbClr val="C62828"/>
                </a:solidFill>
                <a:latin typeface="Century Gothic"/>
              </a:defRPr>
            </a:pPr>
            <a:r>
              <a:t>Architectural Project Defense  |  Computer Science &amp; Engineering  | 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Table of Contents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System Engineering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1. Core Scalability Bottlenecks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Database Disk Scans: </a:t>
            </a:r>
            <a:r>
              <a:rPr sz="950">
                <a:solidFill>
                  <a:srgbClr val="111827"/>
                </a:solidFill>
                <a:latin typeface="Century Gothic"/>
              </a:rPr>
              <a:t>Why standard SQL LIKE queries freeze web servers as students type.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N+1 Query Cascade: </a:t>
            </a:r>
            <a:r>
              <a:rPr sz="950">
                <a:solidFill>
                  <a:srgbClr val="111827"/>
                </a:solidFill>
                <a:latin typeface="Century Gothic"/>
              </a:rPr>
              <a:t>How loading 30 study groups triggers 31 slow database queries.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Exam DevTools Cheating: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How students inspect network JSON responses to find answers.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Docker Latency Overhead: </a:t>
            </a:r>
            <a:r>
              <a:rPr sz="950">
                <a:solidFill>
                  <a:srgbClr val="111827"/>
                </a:solidFill>
                <a:latin typeface="Century Gothic"/>
              </a:rPr>
              <a:t>Why starting Docker containers for each code run adds 400ms lag.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2. Internal High-Speed DSA Engine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Prefix Trie &amp; Inverted Index: </a:t>
            </a:r>
            <a:r>
              <a:rPr sz="950">
                <a:solidFill>
                  <a:srgbClr val="111827"/>
                </a:solidFill>
                <a:latin typeface="Century Gothic"/>
              </a:rPr>
              <a:t>Instant search autocompletion in 0.001 ms (40.7x speedup).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Bounded Min-Heap: </a:t>
            </a:r>
            <a:r>
              <a:rPr sz="950">
                <a:solidFill>
                  <a:srgbClr val="111827"/>
                </a:solidFill>
                <a:latin typeface="Century Gothic"/>
              </a:rPr>
              <a:t>Personalized academic feed ranking in O(N log K) time.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Adjacency List Graph: </a:t>
            </a:r>
            <a:r>
              <a:rPr sz="950">
                <a:solidFill>
                  <a:srgbClr val="111827"/>
                </a:solidFill>
                <a:latin typeface="Century Gothic"/>
              </a:rPr>
              <a:t>O(1) social connection checks and instant mutual peer calculation.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Thread-Safe LRU Cache: </a:t>
            </a:r>
            <a:r>
              <a:rPr sz="950">
                <a:solidFill>
                  <a:srgbClr val="111827"/>
                </a:solidFill>
                <a:latin typeface="Century Gothic"/>
              </a:rPr>
              <a:t>O(1) memory recall eliminating repetitive database hits.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Sliding-Window Deque: </a:t>
            </a:r>
            <a:r>
              <a:rPr sz="950">
                <a:solidFill>
                  <a:srgbClr val="111827"/>
                </a:solidFill>
                <a:latin typeface="Century Gothic"/>
              </a:rPr>
              <a:t>Anti-bot rate limiter blocking password brute-force in O(1) time.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3. Security &amp; Intelligence Engines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CBT Exam Arena: </a:t>
            </a:r>
            <a:r>
              <a:rPr sz="950">
                <a:solidFill>
                  <a:srgbClr val="111827"/>
                </a:solidFill>
                <a:latin typeface="Century Gothic"/>
              </a:rPr>
              <a:t>Full-screen lockdown mode + authentic 5-color NTA palette state engine.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CBT Anti-Cheating: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Cryptographic answer scrubbing and authoritative server-side clocks.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Polyglot Code Lab: </a:t>
            </a:r>
            <a:r>
              <a:rPr sz="950">
                <a:solidFill>
                  <a:srgbClr val="111827"/>
                </a:solidFill>
                <a:latin typeface="Century Gothic"/>
              </a:rPr>
              <a:t>Monaco editor with 20+ hidden adversarial test cases.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AST Compiler Sandbox: </a:t>
            </a:r>
            <a:r>
              <a:rPr sz="950">
                <a:solidFill>
                  <a:srgbClr val="111827"/>
                </a:solidFill>
                <a:latin typeface="Century Gothic"/>
              </a:rPr>
              <a:t>Python syntax tree inspection stopping dangerous calls in 0.5 ms.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Veritas-AI Agent: </a:t>
            </a:r>
            <a:r>
              <a:rPr sz="950">
                <a:solidFill>
                  <a:srgbClr val="111827"/>
                </a:solidFill>
                <a:latin typeface="Century Gothic"/>
              </a:rPr>
              <a:t>6-vector autonomous educator credential verification dossier.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Speech-Act Moderation: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Differentiating self-frustration from peer bullying via Austin &amp; Searle.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4. Results &amp; Empirical Verification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Big-O Proofs: </a:t>
            </a:r>
            <a:r>
              <a:rPr sz="950">
                <a:solidFill>
                  <a:srgbClr val="111827"/>
                </a:solidFill>
                <a:latin typeface="Century Gothic"/>
              </a:rPr>
              <a:t>Mathematical proofs of speedups across 8 critical operations.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Live Benchmarks: </a:t>
            </a:r>
            <a:r>
              <a:rPr sz="950">
                <a:solidFill>
                  <a:srgbClr val="111827"/>
                </a:solidFill>
                <a:latin typeface="Century Gothic"/>
              </a:rPr>
              <a:t>40.7x search leap, 37.9x community boost, sub-7ms HTTP response.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Test Verification: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100% automated test pass rate across all system modules.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Problem Statement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The 4 Silent Killers of E-Learning Scalability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3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Bottleneck 1: Database Disk Scans on Every Keystroke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Issue: </a:t>
            </a:r>
            <a:r>
              <a:rPr sz="950">
                <a:solidFill>
                  <a:srgbClr val="111827"/>
                </a:solidFill>
                <a:latin typeface="Century Gothic"/>
              </a:rPr>
              <a:t>Standard apps run queries like: WHERE title LIKE '%pyt%' as users type.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Disaster: </a:t>
            </a:r>
            <a:r>
              <a:rPr sz="950">
                <a:solidFill>
                  <a:srgbClr val="111827"/>
                </a:solidFill>
                <a:latin typeface="Century Gothic"/>
              </a:rPr>
              <a:t>Leading wildcards bypass database B-Tree indexes, forcing 6 full-table linear scans across posts, quizzes, problems, and users (O(N * K_tables)).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Consequence: </a:t>
            </a:r>
            <a:r>
              <a:rPr sz="950">
                <a:solidFill>
                  <a:srgbClr val="111827"/>
                </a:solidFill>
                <a:latin typeface="Century Gothic"/>
              </a:rPr>
              <a:t>Just 50 students searching simultaneously locks the database and freezes the server.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Bottleneck 2: Community N+1 Query Cascade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Issue: </a:t>
            </a:r>
            <a:r>
              <a:rPr sz="950">
                <a:solidFill>
                  <a:srgbClr val="111827"/>
                </a:solidFill>
                <a:latin typeface="Century Gothic"/>
              </a:rPr>
              <a:t>Loading 30 study communities fires 1 query for the list, followed by 30 separate queries for each group's channels.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Disaster: </a:t>
            </a:r>
            <a:r>
              <a:rPr sz="950">
                <a:solidFill>
                  <a:srgbClr val="111827"/>
                </a:solidFill>
                <a:latin typeface="Century Gothic"/>
              </a:rPr>
              <a:t>Requires 31 separate disk round-trips for a single screen render.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Consequence: </a:t>
            </a:r>
            <a:r>
              <a:rPr sz="950">
                <a:solidFill>
                  <a:srgbClr val="111827"/>
                </a:solidFill>
                <a:latin typeface="Century Gothic"/>
              </a:rPr>
              <a:t>Severe user interface lag and wasted server CPU.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Bottleneck 3: DevTools Cheating in Online Exams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Issue: </a:t>
            </a:r>
            <a:r>
              <a:rPr sz="950">
                <a:solidFill>
                  <a:srgbClr val="111827"/>
                </a:solidFill>
                <a:latin typeface="Century Gothic"/>
              </a:rPr>
              <a:t>Most quiz platforms bundle answer keys and explanations directly inside client-side JSON responses.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Disaster: </a:t>
            </a:r>
            <a:r>
              <a:rPr sz="950">
                <a:solidFill>
                  <a:srgbClr val="111827"/>
                </a:solidFill>
                <a:latin typeface="Century Gothic"/>
              </a:rPr>
              <a:t>Students open browser DevTools Network tabs to reveal answers, or manipulate local computer clocks to bypass countdown timers.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Consequence: </a:t>
            </a:r>
            <a:r>
              <a:rPr sz="950">
                <a:solidFill>
                  <a:srgbClr val="111827"/>
                </a:solidFill>
                <a:latin typeface="Century Gothic"/>
              </a:rPr>
              <a:t>Academic dishonesty and complete loss of exam credibility.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Bottleneck 4: Insecure Code Execution &amp; AI Spoilers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Issue: </a:t>
            </a:r>
            <a:r>
              <a:rPr sz="950">
                <a:solidFill>
                  <a:srgbClr val="111827"/>
                </a:solidFill>
                <a:latin typeface="Century Gothic"/>
              </a:rPr>
              <a:t>Running student code on servers risks host takeover (os.system, eval), while starting Docker containers adds 400ms startup lag.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Disaster: </a:t>
            </a:r>
            <a:r>
              <a:rPr sz="950">
                <a:solidFill>
                  <a:srgbClr val="111827"/>
                </a:solidFill>
                <a:latin typeface="Century Gothic"/>
              </a:rPr>
              <a:t>Generic AI chatbots (like ChatGPT) output complete code solutions.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Consequence: </a:t>
            </a:r>
            <a:r>
              <a:rPr sz="950">
                <a:solidFill>
                  <a:srgbClr val="111827"/>
                </a:solidFill>
                <a:latin typeface="Century Gothic"/>
              </a:rPr>
              <a:t>Students copy-paste without learning real algorithmic thinking.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Project Objectives &amp; Design Mandate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The 3 Ironclad Constraints &amp; Core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4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Three Ironclad System Constraints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Strictly Zero Frontend File Modifications: </a:t>
            </a:r>
            <a:r>
              <a:rPr sz="950">
                <a:solidFill>
                  <a:srgbClr val="111827"/>
                </a:solidFill>
                <a:latin typeface="Century Gothic"/>
              </a:rPr>
              <a:t>The React 18 / TypeScript interface received 0 file edits. All accelerations run transparently under the hood on the backend.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Strictly Zero API Schema Leaks: </a:t>
            </a:r>
            <a:r>
              <a:rPr sz="950">
                <a:solidFill>
                  <a:srgbClr val="111827"/>
                </a:solidFill>
                <a:latin typeface="Century Gothic"/>
              </a:rPr>
              <a:t>Flask REST JSON payloads retain identical schema contracts ({'success': true, 'results': [...]}). Zero breaking changes for clients.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Strictly Zero UI Exposure of Internals: </a:t>
            </a:r>
            <a:r>
              <a:rPr sz="950">
                <a:solidFill>
                  <a:srgbClr val="111827"/>
                </a:solidFill>
                <a:latin typeface="Century Gothic"/>
              </a:rPr>
              <a:t>End users must never see internal DSA buzzwords (no 'Powered by Trie' or 'LRU Cache' badges anywhere in the interface).</a:t>
            </a:r>
          </a:p>
          <a:p>
            <a:pPr>
              <a:spcAft>
                <a:spcPts val="14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Target Engineering Objectives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Pure In-Memory DSA Engine: </a:t>
            </a:r>
            <a:r>
              <a:rPr sz="950">
                <a:solidFill>
                  <a:srgbClr val="111827"/>
                </a:solidFill>
                <a:latin typeface="Century Gothic"/>
              </a:rPr>
              <a:t>Eliminate external cluster dependencies (Redis, Elasticsearch) using custom, thread-safe Python memory data structures.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Sub-Millisecond Search Latency: </a:t>
            </a:r>
            <a:r>
              <a:rPr sz="950">
                <a:solidFill>
                  <a:srgbClr val="111827"/>
                </a:solidFill>
                <a:latin typeface="Century Gothic"/>
              </a:rPr>
              <a:t>Accelerate multi-domain search from 50ms+ down to under 0.001ms (achieved 40.7x measured speedup).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Tamper-Proof CBT Security: </a:t>
            </a:r>
            <a:r>
              <a:rPr sz="950">
                <a:solidFill>
                  <a:srgbClr val="111827"/>
                </a:solidFill>
                <a:latin typeface="Century Gothic"/>
              </a:rPr>
              <a:t>Enforce cryptographic zero-leakage scrubbing, server-authoritative clocks, and bot velocity detection.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Pre-Flight AST Sandbox: </a:t>
            </a:r>
            <a:r>
              <a:rPr sz="950">
                <a:solidFill>
                  <a:srgbClr val="111827"/>
                </a:solidFill>
                <a:latin typeface="Century Gothic"/>
              </a:rPr>
              <a:t>Safely evaluate multi-language code against 20+ hidden test cases in sub-50ms latency without Docker overhead.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Autonomous Educator Vetting: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Deploy Veritas-AI agent with explainable audit dossiers to prevent teacher credential fraud.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End-to-End System Architecture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Transparent 3-Tier Integration of the Internal DSA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5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33832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1. Client Presentation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Framework: </a:t>
            </a:r>
            <a:r>
              <a:rPr sz="950">
                <a:solidFill>
                  <a:srgbClr val="111827"/>
                </a:solidFill>
                <a:latin typeface="Century Gothic"/>
              </a:rPr>
              <a:t>React 18 / TypeScript / Vite SPA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Spotlight Search: </a:t>
            </a:r>
            <a:r>
              <a:rPr sz="950">
                <a:solidFill>
                  <a:srgbClr val="111827"/>
                </a:solidFill>
                <a:latin typeface="Century Gothic"/>
              </a:rPr>
              <a:t>Instant multi-domain search modal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JEE CBT Arena: </a:t>
            </a:r>
            <a:r>
              <a:rPr sz="950">
                <a:solidFill>
                  <a:srgbClr val="111827"/>
                </a:solidFill>
                <a:latin typeface="Century Gothic"/>
              </a:rPr>
              <a:t>5-color NTA palette state engine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Monaco Code Lab: </a:t>
            </a:r>
            <a:r>
              <a:rPr sz="950">
                <a:solidFill>
                  <a:srgbClr val="111827"/>
                </a:solidFill>
                <a:latin typeface="Century Gothic"/>
              </a:rPr>
              <a:t>Polyglot editor + 20+ hidden cases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WhatsApp Communities: </a:t>
            </a:r>
            <a:r>
              <a:rPr sz="950">
                <a:solidFill>
                  <a:srgbClr val="111827"/>
                </a:solidFill>
                <a:latin typeface="Century Gothic"/>
              </a:rPr>
              <a:t>Split-screen channels &amp; post drawer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Client Role: </a:t>
            </a:r>
            <a:r>
              <a:rPr sz="950">
                <a:solidFill>
                  <a:srgbClr val="111827"/>
                </a:solidFill>
                <a:latin typeface="Century Gothic"/>
              </a:rPr>
              <a:t>Pure consumer; unaware of DSA engine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389120" y="1188720"/>
            <a:ext cx="34747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2. Unified DSA Engine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Architecture: </a:t>
            </a:r>
            <a:r>
              <a:rPr sz="950">
                <a:solidFill>
                  <a:srgbClr val="111827"/>
                </a:solidFill>
                <a:latin typeface="Century Gothic"/>
              </a:rPr>
              <a:t>In-Memory Singleton Facade (RAM)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PrefixTrie: </a:t>
            </a:r>
            <a:r>
              <a:rPr sz="950">
                <a:solidFill>
                  <a:srgbClr val="111827"/>
                </a:solidFill>
                <a:latin typeface="Century Gothic"/>
              </a:rPr>
              <a:t>O(L) character walk across 6 tables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InvertedIndex: </a:t>
            </a:r>
            <a:r>
              <a:rPr sz="950">
                <a:solidFill>
                  <a:srgbClr val="111827"/>
                </a:solidFill>
                <a:latin typeface="Century Gothic"/>
              </a:rPr>
              <a:t>Size-sorted posting set intersection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LRUCache: </a:t>
            </a:r>
            <a:r>
              <a:rPr sz="950">
                <a:solidFill>
                  <a:srgbClr val="111827"/>
                </a:solidFill>
                <a:latin typeface="Century Gothic"/>
              </a:rPr>
              <a:t>Doubly linked list + hash map (O(1))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PriorityRanker: </a:t>
            </a:r>
            <a:r>
              <a:rPr sz="950">
                <a:solidFill>
                  <a:srgbClr val="111827"/>
                </a:solidFill>
                <a:latin typeface="Century Gothic"/>
              </a:rPr>
              <a:t>Bounded min-heap for top-50 feeds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PeerGraph: </a:t>
            </a:r>
            <a:r>
              <a:rPr sz="950">
                <a:solidFill>
                  <a:srgbClr val="111827"/>
                </a:solidFill>
                <a:latin typeface="Century Gothic"/>
              </a:rPr>
              <a:t>O(1) adjacency checks &amp; mutual peers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SlidingDeque: </a:t>
            </a:r>
            <a:r>
              <a:rPr sz="950">
                <a:solidFill>
                  <a:srgbClr val="111827"/>
                </a:solidFill>
                <a:latin typeface="Century Gothic"/>
              </a:rPr>
              <a:t>Amortized O(1) rolling rate limiter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138160" y="1188720"/>
            <a:ext cx="32918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3. Security &amp; Storage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CBT Scrubber: </a:t>
            </a:r>
            <a:r>
              <a:rPr sz="950">
                <a:solidFill>
                  <a:srgbClr val="111827"/>
                </a:solidFill>
                <a:latin typeface="Century Gothic"/>
              </a:rPr>
              <a:t>Cryptographic key exclusion pre-JSON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Compiler Sandbox: </a:t>
            </a:r>
            <a:r>
              <a:rPr sz="950">
                <a:solidFill>
                  <a:srgbClr val="111827"/>
                </a:solidFill>
                <a:latin typeface="Century Gothic"/>
              </a:rPr>
              <a:t>AST visitor security + SHA-256 cache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Veritas-AI Agent: </a:t>
            </a:r>
            <a:r>
              <a:rPr sz="950">
                <a:solidFill>
                  <a:srgbClr val="111827"/>
                </a:solidFill>
                <a:latin typeface="Century Gothic"/>
              </a:rPr>
              <a:t>Autonomous educator credential vetting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Speech-Act Moderation: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Austin &amp; Searle intent-directed guard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SQLite3 WAL Store: </a:t>
            </a:r>
            <a:r>
              <a:rPr sz="950">
                <a:solidFill>
                  <a:srgbClr val="111827"/>
                </a:solidFill>
                <a:latin typeface="Century Gothic"/>
              </a:rPr>
              <a:t>35+ normalized relational tables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111827"/>
                </a:solidFill>
                <a:latin typeface="Century Gothic"/>
              </a:defRPr>
            </a:pPr>
            <a:r>
              <a:t>End-to-End Request Pipeline:  </a:t>
            </a:r>
            <a:r>
              <a:rPr sz="1000">
                <a:solidFill>
                  <a:srgbClr val="E65100"/>
                </a:solidFill>
                <a:latin typeface="Century Gothic"/>
              </a:rPr>
              <a:t>User Keystroke  --&gt;  Flask REST Route  --&gt;  Unified In-Memory DSA Engine (&lt; 0.5ms)  --&gt;  AST Sandbox / CBT Scrubber  --&gt;  SQLite3 WAL Store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1: Universal Multi-Domain Search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PrefixTrie &amp; InvertedIndex Hybrid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6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The Problem &amp; The Smart Solution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Searching across 6 tables (posts, quizzes, coding problems, communities, classrooms, users) using SQL LIKE scans every disk row on every keystroke.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 zero-dependency hybrid in-memory search engine: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1. Prefix Trie: </a:t>
            </a:r>
            <a:r>
              <a:rPr sz="950">
                <a:solidFill>
                  <a:srgbClr val="111827"/>
                </a:solidFill>
                <a:latin typeface="Century Gothic"/>
              </a:rPr>
              <a:t>Instantly autocompletes prefixes by walking character tree branches character-by-character ('p' -&gt; 'y' -&gt; 't').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2. Inverted Index: </a:t>
            </a:r>
            <a:r>
              <a:rPr sz="950">
                <a:solidFill>
                  <a:srgbClr val="111827"/>
                </a:solidFill>
                <a:latin typeface="Century Gothic"/>
              </a:rPr>
              <a:t>Maps tokens to entity sets, using fast size-sorted set intersection for multi-word queries.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Simple Analogy: </a:t>
            </a:r>
            <a:r>
              <a:rPr sz="950">
                <a:solidFill>
                  <a:srgbClr val="111827"/>
                </a:solidFill>
                <a:latin typeface="Century Gothic"/>
              </a:rPr>
              <a:t>Like opening a dictionary directly to tab 'P' rather than reading every single page from cover to cover.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Time Complexity &amp; Measured Speedup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Trie Lookup Time: </a:t>
            </a:r>
            <a:r>
              <a:rPr sz="950">
                <a:solidFill>
                  <a:srgbClr val="111827"/>
                </a:solidFill>
                <a:latin typeface="Century Gothic"/>
              </a:rPr>
              <a:t>O(L + M) where L is query length (3 for 'pyt') and M is matches. Entire database size N is eliminated!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Intersection Time: </a:t>
            </a:r>
            <a:r>
              <a:rPr sz="950">
                <a:solidFill>
                  <a:srgbClr val="111827"/>
                </a:solidFill>
                <a:latin typeface="Century Gothic"/>
              </a:rPr>
              <a:t>O(min(|S1|, |S2|)) by sorting posting sets ascending first. Discards 95% of candidate IDs in step 1.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Measured Speedup: </a:t>
            </a:r>
            <a:r>
              <a:rPr sz="950">
                <a:solidFill>
                  <a:srgbClr val="111827"/>
                </a:solidFill>
                <a:latin typeface="Century Gothic"/>
              </a:rPr>
              <a:t>40.7x faster than SQL (0.31 ms down to 0.001 ms).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Trie Prefix Walk Snippet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backend/dsa_engine.py
</a:t>
            </a:r>
            <a:r>
              <a:rPr sz="800">
                <a:solidFill>
                  <a:srgbClr val="111827"/>
                </a:solidFill>
                <a:latin typeface="Courier New"/>
              </a:rPr>
              <a:t>curr = self.root
</a:t>
            </a:r>
            <a:r>
              <a:rPr sz="800">
                <a:solidFill>
                  <a:srgbClr val="111827"/>
                </a:solidFill>
                <a:latin typeface="Courier New"/>
              </a:rPr>
              <a:t>for ch in prefix.lower():
</a:t>
            </a:r>
            <a:r>
              <a:rPr sz="800">
                <a:solidFill>
                  <a:srgbClr val="111827"/>
                </a:solidFill>
                <a:latin typeface="Courier New"/>
              </a:rPr>
              <a:t>    if ch not in curr.children: return set()
</a:t>
            </a:r>
            <a:r>
              <a:rPr sz="800">
                <a:solidFill>
                  <a:srgbClr val="111827"/>
                </a:solidFill>
                <a:latin typeface="Courier New"/>
              </a:rPr>
              <a:t>    curr = curr.children[ch]  # Walk branch in O(L)
</a:t>
            </a:r>
            <a:r>
              <a:rPr sz="800">
                <a:solidFill>
                  <a:srgbClr val="111827"/>
                </a:solidFill>
                <a:latin typeface="Courier New"/>
              </a:rPr>
              <a:t>return self._collect_subtree_refs(curr, max_refs=50)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2: High-Yield Academic Feed Ranking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Bounded Min-Heap Priority Queue with Time Decay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7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The Problem &amp; The Smart Solution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Mainstream social feeds optimize for clickbait. Sorting 10,000 posts with standard Timsort (O(N log N)) wastes massive CPU on posts students will never see.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 Bounded Min-Heap Priority Queue of size K=50 that tracks only the top 50 educational posts, dropping low-scoring posts in O(1) time.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Simple Analogy: </a:t>
            </a:r>
            <a:r>
              <a:rPr sz="950">
                <a:solidFill>
                  <a:srgbClr val="111827"/>
                </a:solidFill>
                <a:latin typeface="Century Gothic"/>
              </a:rPr>
              <a:t>Think of a VIP club line holding strictly 50 people: when a high-value post arrives, the lowest-scoring post is kicked out instantly.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Academic Score Formulation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Formula: </a:t>
            </a:r>
            <a:r>
              <a:rPr sz="950">
                <a:solidFill>
                  <a:srgbClr val="111827"/>
                </a:solidFill>
                <a:latin typeface="Century Gothic"/>
              </a:rPr>
              <a:t>Score = [(2L + 3R + 2.5C + 5.0) * W_type + Boost_peer] / (Delta_t + 2.0)^1.15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Type Multiplier: </a:t>
            </a:r>
            <a:r>
              <a:rPr sz="950">
                <a:solidFill>
                  <a:srgbClr val="111827"/>
                </a:solidFill>
                <a:latin typeface="Century Gothic"/>
              </a:rPr>
              <a:t>YouTube courses get 1.5x boost; Hackathons get 1.3x boost.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Peer Affinity: </a:t>
            </a:r>
            <a:r>
              <a:rPr sz="950">
                <a:solidFill>
                  <a:srgbClr val="111827"/>
                </a:solidFill>
                <a:latin typeface="Century Gothic"/>
              </a:rPr>
              <a:t>+15.0 boost for direct Studymates; +7.5 for mutual peers.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Power Decay: </a:t>
            </a:r>
            <a:r>
              <a:rPr sz="950">
                <a:solidFill>
                  <a:srgbClr val="111827"/>
                </a:solidFill>
                <a:latin typeface="Century Gothic"/>
              </a:rPr>
              <a:t>Smooth power curve prevents old posts from monopolizing feed.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Time Complexity &amp; Memory Bound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Heap Sorting Time: </a:t>
            </a:r>
            <a:r>
              <a:rPr sz="950">
                <a:solidFill>
                  <a:srgbClr val="111827"/>
                </a:solidFill>
                <a:latin typeface="Century Gothic"/>
              </a:rPr>
              <a:t>O(N log K) vs O(N log N). For 10,000 posts and K=50, saves over 76,000 CPU comparisons on every single refresh!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Memory Footprint: </a:t>
            </a:r>
            <a:r>
              <a:rPr sz="950">
                <a:solidFill>
                  <a:srgbClr val="111827"/>
                </a:solidFill>
                <a:latin typeface="Century Gothic"/>
              </a:rPr>
              <a:t>Strictly bounded O(K) memory; never exhausts server RAM.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Bounded Min-Heap Implementation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backend/dsa_engine.py
</a:t>
            </a:r>
            <a:r>
              <a:rPr sz="800">
                <a:solidFill>
                  <a:srgbClr val="111827"/>
                </a:solidFill>
                <a:latin typeface="Courier New"/>
              </a:rPr>
              <a:t>heap = []
</a:t>
            </a:r>
            <a:r>
              <a:rPr sz="800">
                <a:solidFill>
                  <a:srgbClr val="111827"/>
                </a:solidFill>
                <a:latin typeface="Courier New"/>
              </a:rPr>
              <a:t>for item in posts:
</a:t>
            </a:r>
            <a:r>
              <a:rPr sz="800">
                <a:solidFill>
                  <a:srgbClr val="111827"/>
                </a:solidFill>
                <a:latin typeface="Courier New"/>
              </a:rPr>
              <a:t>    score = calculate_academic_score(item)
</a:t>
            </a:r>
            <a:r>
              <a:rPr sz="800">
                <a:solidFill>
                  <a:srgbClr val="111827"/>
                </a:solidFill>
                <a:latin typeface="Courier New"/>
              </a:rPr>
              <a:t>    if len(heap) &lt; 50: heapq.heappush(heap, (score, item))
</a:t>
            </a:r>
            <a:r>
              <a:rPr sz="800">
                <a:solidFill>
                  <a:srgbClr val="111827"/>
                </a:solidFill>
                <a:latin typeface="Courier New"/>
              </a:rPr>
              <a:t>    elif score &gt; heap[0][0]: heapq.heapreplace(heap, (score, item))
</a:t>
            </a:r>
            <a:r>
              <a:rPr sz="800">
                <a:solidFill>
                  <a:srgbClr val="111827"/>
                </a:solidFill>
                <a:latin typeface="Courier New"/>
              </a:rPr>
              <a:t>return [item for _, item in reversed(heap)]
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3: Social Connection Graph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In-Memory Adjacency List &amp; BFS Peer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8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The Problem &amp; The Smart Solution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Rendering 50 feed cards requires checking if each author is a 'Studymate', forcing 50 slow SQL JOIN queries on every refresh.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An in-memory undirected Adjacency List Graph (Dict[str, Set[str]]) that turns heavy relational joins into instant set operations.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Mutual Studymates: </a:t>
            </a:r>
            <a:r>
              <a:rPr sz="950">
                <a:solidFill>
                  <a:srgbClr val="111827"/>
                </a:solidFill>
                <a:latin typeface="Century Gothic"/>
              </a:rPr>
              <a:t>Calculates mutual friends instantly using fast set intersection: Mutual = adj[u] &amp; adj[v] in O(min(d1, d2)) time.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Peer Discovery: </a:t>
            </a:r>
            <a:r>
              <a:rPr sz="950">
                <a:solidFill>
                  <a:srgbClr val="111827"/>
                </a:solidFill>
                <a:latin typeface="Century Gothic"/>
              </a:rPr>
              <a:t>Breadth-First Search (BFS) explores 2nd-degree connections to recommend relevant study partners.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Time Complexity &amp; Measured Speedup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Connection Check: </a:t>
            </a:r>
            <a:r>
              <a:rPr sz="950">
                <a:solidFill>
                  <a:srgbClr val="111827"/>
                </a:solidFill>
                <a:latin typeface="Century Gothic"/>
              </a:rPr>
              <a:t>Strict O(1) set membership check (nanoseconds).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Mutual Friends: </a:t>
            </a:r>
            <a:r>
              <a:rPr sz="950">
                <a:solidFill>
                  <a:srgbClr val="111827"/>
                </a:solidFill>
                <a:latin typeface="Century Gothic"/>
              </a:rPr>
              <a:t>O(min(deg(u), deg(v))) set intersection.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BFS Recommendations: </a:t>
            </a:r>
            <a:r>
              <a:rPr sz="950">
                <a:solidFill>
                  <a:srgbClr val="111827"/>
                </a:solidFill>
                <a:latin typeface="Century Gothic"/>
              </a:rPr>
              <a:t>O(V + E) bounded at depth 2.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Measured Benchmark: </a:t>
            </a:r>
            <a:r>
              <a:rPr sz="950">
                <a:solidFill>
                  <a:srgbClr val="111827"/>
                </a:solidFill>
                <a:latin typeface="Century Gothic"/>
              </a:rPr>
              <a:t>10,000 connection checks take 1.19 ms (0.119 microseconds per check, 100.8x faster than SQL).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Adjacency List Graph Implementation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backend/dsa_engine.py
</a:t>
            </a:r>
            <a:r>
              <a:rPr sz="800">
                <a:solidFill>
                  <a:srgbClr val="111827"/>
                </a:solidFill>
                <a:latin typeface="Courier New"/>
              </a:rPr>
              <a:t>class PeerGraph:
</a:t>
            </a:r>
            <a:r>
              <a:rPr sz="800">
                <a:solidFill>
                  <a:srgbClr val="111827"/>
                </a:solidFill>
                <a:latin typeface="Courier New"/>
              </a:rPr>
              <a:t>    def are_connected(self, u: str, v: str) -&gt; bool: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return v in self._adj.get(u, set())  # Strict O(1)
</a:t>
            </a:r>
            <a:r>
              <a:rPr sz="800">
                <a:solidFill>
                  <a:srgbClr val="111827"/>
                </a:solidFill>
                <a:latin typeface="Courier New"/>
              </a:rPr>
              <a:t>    def get_mutual_peers(self, u: str, v: str) -&gt; Set[str]: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return self._adj[u] &amp; self._adj[v]    # Instant intersection
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4: Thread-Safe Multi-Tier LRU Cache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Doubly Linked List with Sentinels &amp; Sub-Millisecond TTL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9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The Problem &amp; The Smart Solution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Loading community channels triggers the classic 'N+1 query problem' (31 disk round-trips for 30 groups). External Redis adds 2ms socket overhead.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 custom In-Memory Least Recently Used (LRU) Cache combining a Doubly Linked List with dummy Sentinel Nodes (head &amp; tail) and a Hash Map.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Why Sentinels?: </a:t>
            </a:r>
            <a:r>
              <a:rPr sz="950">
                <a:solidFill>
                  <a:srgbClr val="111827"/>
                </a:solidFill>
                <a:latin typeface="Century Gothic"/>
              </a:rPr>
              <a:t>Dummy head and tail nodes eliminate null checks, making node additions and evictions branch-free and bulletproof.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4 Specialized Tiers: </a:t>
            </a:r>
            <a:r>
              <a:rPr sz="950">
                <a:solidFill>
                  <a:srgbClr val="111827"/>
                </a:solidFill>
                <a:latin typeface="Century Gothic"/>
              </a:rPr>
              <a:t>Search (512 slots), Profiles (256 slots), Communities (64 slots), Messages (128 slots) with automatic TTL expiry.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Time Complexity &amp; Measured Speedup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Get / Put / Evict: </a:t>
            </a:r>
            <a:r>
              <a:rPr sz="950">
                <a:solidFill>
                  <a:srgbClr val="111827"/>
                </a:solidFill>
                <a:latin typeface="Century Gothic"/>
              </a:rPr>
              <a:t>Strict O(1) constant time via hash map pointers.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Thread Safety: </a:t>
            </a:r>
            <a:r>
              <a:rPr sz="950">
                <a:solidFill>
                  <a:srgbClr val="111827"/>
                </a:solidFill>
                <a:latin typeface="Century Gothic"/>
              </a:rPr>
              <a:t>Guarded with re-entrant locks (threading.RLock) for zero race conditions across concurrent student requests.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Measured Speedup: </a:t>
            </a:r>
            <a:r>
              <a:rPr sz="950">
                <a:solidFill>
                  <a:srgbClr val="111827"/>
                </a:solidFill>
                <a:latin typeface="Century Gothic"/>
              </a:rPr>
              <a:t>37.9x faster community loading (&lt; 0.001 ms).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O(1) Sentinel Node Relinking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backend/dsa_engine.py
</a:t>
            </a:r>
            <a:r>
              <a:rPr sz="800">
                <a:solidFill>
                  <a:srgbClr val="111827"/>
                </a:solidFill>
                <a:latin typeface="Courier New"/>
              </a:rPr>
              <a:t>def _move_to_front(self, node: DListNode) -&gt; None:
</a:t>
            </a:r>
            <a:r>
              <a:rPr sz="800">
                <a:solidFill>
                  <a:srgbClr val="111827"/>
                </a:solidFill>
                <a:latin typeface="Courier New"/>
              </a:rPr>
              <a:t>    node.prev.next = node.next; node.next.prev = node.prev
</a:t>
            </a:r>
            <a:r>
              <a:rPr sz="800">
                <a:solidFill>
                  <a:srgbClr val="111827"/>
                </a:solidFill>
                <a:latin typeface="Courier New"/>
              </a:rPr>
              <a:t>    node.next = self._head.next; node.prev = self._head
</a:t>
            </a:r>
            <a:r>
              <a:rPr sz="800">
                <a:solidFill>
                  <a:srgbClr val="111827"/>
                </a:solidFill>
                <a:latin typeface="Courier New"/>
              </a:rPr>
              <a:t>    self._head.next.prev = node; self._head.next = node
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5: Rolling Rate Limiter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In-Memory Sliding-Window Deque Throttling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10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The Problem &amp; The Smart Solution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Fixed-window limiters reset on the minute, allowing attackers to send double the requests right around the reset (e.g. at 0:59 and 1:01).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 true Rolling Sliding-Window using double-ended queues (collections.deque) tracking exact millisecond timestamps per client IP.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How It Works: </a:t>
            </a:r>
            <a:r>
              <a:rPr sz="950">
                <a:solidFill>
                  <a:srgbClr val="111827"/>
                </a:solidFill>
                <a:latin typeface="Century Gothic"/>
              </a:rPr>
              <a:t>As each request arrives, expired timestamps are popped from the left of the queue in amortized O(1) time. If queue size &lt; limit, the request is allowed.</a:t>
            </a:r>
          </a:p>
          <a:p>
            <a:pPr>
              <a:spcAft>
                <a:spcPts val="10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Active Protection Windows in App.py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Student Login: </a:t>
            </a:r>
            <a:r>
              <a:rPr sz="950">
                <a:solidFill>
                  <a:srgbClr val="111827"/>
                </a:solidFill>
                <a:latin typeface="Century Gothic"/>
              </a:rPr>
              <a:t>Max 15 requests / 60 seconds (stops brute-force attacks).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Quiz Submit: </a:t>
            </a:r>
            <a:r>
              <a:rPr sz="950">
                <a:solidFill>
                  <a:srgbClr val="111827"/>
                </a:solidFill>
                <a:latin typeface="Century Gothic"/>
              </a:rPr>
              <a:t>Max 4 submissions / 15 seconds (stops automated bot spam).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Code Sandbox: </a:t>
            </a:r>
            <a:r>
              <a:rPr sz="950">
                <a:solidFill>
                  <a:srgbClr val="111827"/>
                </a:solidFill>
                <a:latin typeface="Century Gothic"/>
              </a:rPr>
              <a:t>Max 25 executions / 60 seconds (prevents server CPU exhaustion).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Time Complexity &amp; Memory Bounds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Check &amp; Evict: </a:t>
            </a:r>
            <a:r>
              <a:rPr sz="950">
                <a:solidFill>
                  <a:srgbClr val="111827"/>
                </a:solidFill>
                <a:latin typeface="Century Gothic"/>
              </a:rPr>
              <a:t>Amortized O(1) time via q.popleft().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Append New Hit: </a:t>
            </a:r>
            <a:r>
              <a:rPr sz="950">
                <a:solidFill>
                  <a:srgbClr val="111827"/>
                </a:solidFill>
                <a:latin typeface="Century Gothic"/>
              </a:rPr>
              <a:t>Strict O(1) timestamp insertion.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Space Complexity: </a:t>
            </a:r>
            <a:r>
              <a:rPr sz="950">
                <a:solidFill>
                  <a:srgbClr val="111827"/>
                </a:solidFill>
                <a:latin typeface="Century Gothic"/>
              </a:rPr>
              <a:t>O(U * R) where U is active users and R is request limit (automatically reclaimed as windows slide).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Sliding-Window Deque Implementation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backend/dsa_engine.py
</a:t>
            </a:r>
            <a:r>
              <a:rPr sz="800">
                <a:solidFill>
                  <a:srgbClr val="111827"/>
                </a:solidFill>
                <a:latin typeface="Courier New"/>
              </a:rPr>
              <a:t>threshold = time.time() - window_seconds
</a:t>
            </a:r>
            <a:r>
              <a:rPr sz="800">
                <a:solidFill>
                  <a:srgbClr val="111827"/>
                </a:solidFill>
                <a:latin typeface="Courier New"/>
              </a:rPr>
              <a:t>q = self._windows[client_key]
</a:t>
            </a:r>
            <a:r>
              <a:rPr sz="800">
                <a:solidFill>
                  <a:srgbClr val="111827"/>
                </a:solidFill>
                <a:latin typeface="Courier New"/>
              </a:rPr>
              <a:t>while q and q[0] &lt; threshold: q.popleft()  # Amortized O(1)
</a:t>
            </a:r>
            <a:r>
              <a:rPr sz="800">
                <a:solidFill>
                  <a:srgbClr val="111827"/>
                </a:solidFill>
                <a:latin typeface="Courier New"/>
              </a:rPr>
              <a:t>if len(q) &lt; max_requests: q.append(time.time()); return True
</a:t>
            </a:r>
            <a:r>
              <a:rPr sz="800">
                <a:solidFill>
                  <a:srgbClr val="111827"/>
                </a:solidFill>
                <a:latin typeface="Courier New"/>
              </a:rPr>
              <a:t>return False  # Rate limit exceeded
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6: WhatsApp-Style Study Communities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Split-Screen Channel Arena &amp; 1-Click Post Sharing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11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What It Does &amp; Student Experience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Students waste hours juggling separate apps (WhatsApp for messaging, LeetCode for coding, YouTube for lectures).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An integrated split-screen study hub combining WhatsApp Web simplicity with Discord sub-channels and runnable code cards.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Clustered Groups: </a:t>
            </a:r>
            <a:r>
              <a:rPr sz="950">
                <a:solidFill>
                  <a:srgbClr val="111827"/>
                </a:solidFill>
                <a:latin typeface="Century Gothic"/>
              </a:rPr>
              <a:t>Dedicated communities: DSA Grind, Web Development, JEE 2026, AI/ML with sub-channels (announcements, doubts, general).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1-Click Share Drawer: </a:t>
            </a:r>
            <a:r>
              <a:rPr sz="950">
                <a:solidFill>
                  <a:srgbClr val="111827"/>
                </a:solidFill>
                <a:latin typeface="Century Gothic"/>
              </a:rPr>
              <a:t>Students share high-yield courses and hackathons from the home feed directly into multiple Study Mate DMs and study channels simultaneously.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Data Flow &amp; Real-Time Push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Instant Loading: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Community tabs load in &lt; 0.001 ms via in-memory LRU cache, completely bypassing the 31-query N+1 cascade.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Server-Sent Events (SSE): </a:t>
            </a:r>
            <a:r>
              <a:rPr sz="950">
                <a:solidFill>
                  <a:srgbClr val="111827"/>
                </a:solidFill>
                <a:latin typeface="Century Gothic"/>
              </a:rPr>
              <a:t>GET /api/live/stream pushes new messages and shared posts to all channel members in real time without polling.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Post Broadcast Handler (/api/posts/share)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backend/app.py
</a:t>
            </a:r>
            <a:r>
              <a:rPr sz="800">
                <a:solidFill>
                  <a:srgbClr val="111827"/>
                </a:solidFill>
                <a:latin typeface="Courier New"/>
              </a:rPr>
              <a:t>for mate_id in target_studymate_ids:
</a:t>
            </a:r>
            <a:r>
              <a:rPr sz="800">
                <a:solidFill>
                  <a:srgbClr val="111827"/>
                </a:solidFill>
                <a:latin typeface="Courier New"/>
              </a:rPr>
              <a:t>    conn.execute('INSERT INTO direct_messages ...')  # Direct DM
</a:t>
            </a:r>
            <a:r>
              <a:rPr sz="800">
                <a:solidFill>
                  <a:srgbClr val="111827"/>
                </a:solidFill>
                <a:latin typeface="Courier New"/>
              </a:rPr>
              <a:t>for ch_id in target_channels:
</a:t>
            </a:r>
            <a:r>
              <a:rPr sz="800">
                <a:solidFill>
                  <a:srgbClr val="111827"/>
                </a:solidFill>
                <a:latin typeface="Courier New"/>
              </a:rPr>
              <a:t>    conn.execute('INSERT INTO messages ...')         # Channel
</a:t>
            </a:r>
            <a:r>
              <a:rPr sz="800">
                <a:solidFill>
                  <a:srgbClr val="111827"/>
                </a:solidFill>
                <a:latin typeface="Courier New"/>
              </a:rPr>
              <a:t>conn.execute('UPDATE posts SET reposts_count = reposts_count + 1')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7: JEE Main CBT Examination Arena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Authentic National Testing Agency (NTA)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12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Authentic NTA Exam Interface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Goal: </a:t>
            </a:r>
            <a:r>
              <a:rPr sz="950">
                <a:solidFill>
                  <a:srgbClr val="111827"/>
                </a:solidFill>
                <a:latin typeface="Century Gothic"/>
              </a:rPr>
              <a:t>Replicate the exact visual layout, pressure, and rules of India's official JEE Main Computer Based Test (CBT).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5-Color Question Palette: </a:t>
            </a:r>
            <a:r>
              <a:rPr sz="950">
                <a:solidFill>
                  <a:srgbClr val="111827"/>
                </a:solidFill>
                <a:latin typeface="Century Gothic"/>
              </a:rPr>
              <a:t>Real-time state engine matching official NTA standards: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Green: </a:t>
            </a:r>
            <a:r>
              <a:rPr sz="950">
                <a:solidFill>
                  <a:srgbClr val="111827"/>
                </a:solidFill>
                <a:latin typeface="Century Gothic"/>
              </a:rPr>
              <a:t>Answered questions.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Red: </a:t>
            </a:r>
            <a:r>
              <a:rPr sz="950">
                <a:solidFill>
                  <a:srgbClr val="111827"/>
                </a:solidFill>
                <a:latin typeface="Century Gothic"/>
              </a:rPr>
              <a:t>Visited but Not Answered.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Gray: </a:t>
            </a:r>
            <a:r>
              <a:rPr sz="950">
                <a:solidFill>
                  <a:srgbClr val="111827"/>
                </a:solidFill>
                <a:latin typeface="Century Gothic"/>
              </a:rPr>
              <a:t>Not Visited yet.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Purple: </a:t>
            </a:r>
            <a:r>
              <a:rPr sz="950">
                <a:solidFill>
                  <a:srgbClr val="111827"/>
                </a:solidFill>
                <a:latin typeface="Century Gothic"/>
              </a:rPr>
              <a:t>Marked for Review.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Purple + Green Dot: </a:t>
            </a:r>
            <a:r>
              <a:rPr sz="950">
                <a:solidFill>
                  <a:srgbClr val="111827"/>
                </a:solidFill>
                <a:latin typeface="Century Gothic"/>
              </a:rPr>
              <a:t>Answered and Marked for Review (evaluated in score!).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Sectional Navigation: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Seamless tab switching between Physics, Chemistry, and Mathematics.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Exam Rules &amp; Scoring Engine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Official JEE Marking: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+4.0 Marks for correct, -1.0 Penalty for incorrect, 0.0 for unattempted.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Live Countdown Timer: </a:t>
            </a:r>
            <a:r>
              <a:rPr sz="950">
                <a:solidFill>
                  <a:srgbClr val="111827"/>
                </a:solidFill>
                <a:latin typeface="Century Gothic"/>
              </a:rPr>
              <a:t>Synchronized mm:ss countdown with automatic test submission upon expiration.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Instant Solutions &amp; Key: </a:t>
            </a:r>
            <a:r>
              <a:rPr sz="950">
                <a:solidFill>
                  <a:srgbClr val="111827"/>
                </a:solidFill>
                <a:latin typeface="Century Gothic"/>
              </a:rPr>
              <a:t>Displays mathematical step-by-step solutions and cohort accuracy percentiles immediately after submission.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Palette State Machine Logic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Status 5 (Purple+Green): </a:t>
            </a:r>
            <a:r>
              <a:rPr sz="950">
                <a:solidFill>
                  <a:srgbClr val="111827"/>
                </a:solidFill>
                <a:latin typeface="Century Gothic"/>
              </a:rPr>
              <a:t>if isAnswered and isMarkedReview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Status 1 (Green): </a:t>
            </a:r>
            <a:r>
              <a:rPr sz="950">
                <a:solidFill>
                  <a:srgbClr val="111827"/>
                </a:solidFill>
                <a:latin typeface="Century Gothic"/>
              </a:rPr>
              <a:t>elif isAnswered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Status 4 (Purple): </a:t>
            </a:r>
            <a:r>
              <a:rPr sz="950">
                <a:solidFill>
                  <a:srgbClr val="111827"/>
                </a:solidFill>
                <a:latin typeface="Century Gothic"/>
              </a:rPr>
              <a:t>elif isMarkedReview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Status 2 (Red): </a:t>
            </a:r>
            <a:r>
              <a:rPr sz="950">
                <a:solidFill>
                  <a:srgbClr val="111827"/>
                </a:solidFill>
                <a:latin typeface="Century Gothic"/>
              </a:rPr>
              <a:t>elif isVisited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Status 0 (Gray): </a:t>
            </a:r>
            <a:r>
              <a:rPr sz="950">
                <a:solidFill>
                  <a:srgbClr val="111827"/>
                </a:solidFill>
                <a:latin typeface="Century Gothic"/>
              </a:rPr>
              <a:t>else (Not Visited)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8: CBT Exam Security &amp; Anti-Cheating Engine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Zero-Leakage Scrubbing &amp; Authoritative Server Clocks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13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Anti-Cheating Architecture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Security Threat: </a:t>
            </a:r>
            <a:r>
              <a:rPr sz="950">
                <a:solidFill>
                  <a:srgbClr val="111827"/>
                </a:solidFill>
                <a:latin typeface="Century Gothic"/>
              </a:rPr>
              <a:t>Students open browser DevTools Network tabs to read answer keys in JSON responses, or change their laptop clocks to gain extra time.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Cryptographic Scrubbing: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deep-scrubs correct_index, explanation, and solution keys from candidate JSON payloads before transmission. Answers are 100% absent from the client.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Server-Authoritative Clock: </a:t>
            </a:r>
            <a:r>
              <a:rPr sz="950">
                <a:solidFill>
                  <a:srgbClr val="111827"/>
                </a:solidFill>
                <a:latin typeface="Century Gothic"/>
              </a:rPr>
              <a:t>Server records exact start time and computes a hard cutoff. Local client clock manipulation is mathematically ignored.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Inhuman Velocity Guard: </a:t>
            </a:r>
            <a:r>
              <a:rPr sz="950">
                <a:solidFill>
                  <a:srgbClr val="111827"/>
                </a:solidFill>
                <a:latin typeface="Century Gothic"/>
              </a:rPr>
              <a:t>Flags automated bot solvers answering complex JEE questions in under 2.2 seconds.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Cryptographic Answer Scrubber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backend/cbt_engine.py
</a:t>
            </a:r>
            <a:r>
              <a:rPr sz="800">
                <a:solidFill>
                  <a:srgbClr val="111827"/>
                </a:solidFill>
                <a:latin typeface="Courier New"/>
              </a:rPr>
              <a:t>class CBTAnswerScrubber:
</a:t>
            </a:r>
            <a:r>
              <a:rPr sz="800">
                <a:solidFill>
                  <a:srgbClr val="111827"/>
                </a:solidFill>
                <a:latin typeface="Courier New"/>
              </a:rPr>
              <a:t>    EXCLUDED = {'correct_index', 'correct_answer', 'explanation'}
</a:t>
            </a:r>
            <a:r>
              <a:rPr sz="800">
                <a:solidFill>
                  <a:srgbClr val="111827"/>
                </a:solidFill>
                <a:latin typeface="Courier New"/>
              </a:rPr>
              <a:t>    def scrub_quiz_for_candidate(cls, quiz_dict):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clean = copy.deepcopy(quiz_dict)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for q in clean.get('questions', []):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for key in cls.EXCLUDED: q.pop(key, None)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return clean  # Zero answer leakage
</a:t>
            </a:r>
          </a:p>
          <a:p>
            <a:pPr>
              <a:spcAft>
                <a:spcPts val="200"/>
              </a:spcAft>
              <a:defRPr sz="1050" b="1">
                <a:solidFill>
                  <a:srgbClr val="E65100"/>
                </a:solidFill>
                <a:latin typeface="Century Gothic"/>
              </a:defRPr>
            </a:pPr>
            <a:r>
              <a:t>Authoritative Timing &amp; Velocity Guard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Flags bot velocity &lt; 2.2s per question
</a:t>
            </a:r>
            <a:r>
              <a:rPr sz="800">
                <a:solidFill>
                  <a:srgbClr val="111827"/>
                </a:solidFill>
                <a:latin typeface="Courier New"/>
              </a:rPr>
              <a:t>speed_per_q = elapsed_server_seconds / max(1, answered_count)
</a:t>
            </a:r>
            <a:r>
              <a:rPr sz="800">
                <a:solidFill>
                  <a:srgbClr val="111827"/>
                </a:solidFill>
                <a:latin typeface="Courier New"/>
              </a:rPr>
              <a:t>if answered_count &gt;= 5 and speed_per_q &lt; 2.2:
</a:t>
            </a:r>
            <a:r>
              <a:rPr sz="800">
                <a:solidFill>
                  <a:srgbClr val="111827"/>
                </a:solidFill>
                <a:latin typeface="Courier New"/>
              </a:rPr>
              <a:t>    audit_flags.append('INHUMAN_VELOCITY_DETECTED')
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9: Polyglot Code Lab Arena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Monaco Editor with Minimum 20 Hidden Test Cases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14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Competitive Practice Environment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Online coding platforms either take 10+ seconds to respond or evaluate only 2 simple inputs, allowing students to hardcode fake if/else checks.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High-performance coding arena with in-browser Monaco Editor supporting Python 3, JavaScript (Node.js), C++, and Java.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2-Tier Execution: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Dual verification modes for rapid learning: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Run Code: </a:t>
            </a:r>
            <a:r>
              <a:rPr sz="950">
                <a:solidFill>
                  <a:srgbClr val="111827"/>
                </a:solidFill>
                <a:latin typeface="Century Gothic"/>
              </a:rPr>
              <a:t>Tests against 3 public sample cases in &lt; 50ms for rapid debugging.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Submit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Evaluates against a minimum of 20 hidden adversarial test cases to defeat hardcoded heuristics.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Competitive Verdicts &amp; Execution Pipeline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Supported Verdicts: </a:t>
            </a:r>
            <a:r>
              <a:rPr sz="950">
                <a:solidFill>
                  <a:srgbClr val="111827"/>
                </a:solidFill>
                <a:latin typeface="Century Gothic"/>
              </a:rPr>
              <a:t>Accepted (all 20+ pass), Wrong Answer, Time Limit Exceeded (&gt; 5.0s), Compilation Error, Runtime Error.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Problem Creator: </a:t>
            </a:r>
            <a:r>
              <a:rPr sz="950">
                <a:solidFill>
                  <a:srgbClr val="111827"/>
                </a:solidFill>
                <a:latin typeface="Century Gothic"/>
              </a:rPr>
              <a:t>Faculty can author custom problems, setting sample cases, hidden test suites, memory limits, and difficulty tags.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5-Step Execution Pipeline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Step 1: </a:t>
            </a:r>
            <a:r>
              <a:rPr sz="950">
                <a:solidFill>
                  <a:srgbClr val="111827"/>
                </a:solidFill>
                <a:latin typeface="Century Gothic"/>
              </a:rPr>
              <a:t>Monaco Editor submits code payload via REST.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Step 2: </a:t>
            </a:r>
            <a:r>
              <a:rPr sz="950">
                <a:solidFill>
                  <a:srgbClr val="111827"/>
                </a:solidFill>
                <a:latin typeface="Century Gothic"/>
              </a:rPr>
              <a:t>AST Security Gate inspects code structure in 0.5 ms.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Step 3: </a:t>
            </a:r>
            <a:r>
              <a:rPr sz="950">
                <a:solidFill>
                  <a:srgbClr val="111827"/>
                </a:solidFill>
                <a:latin typeface="Century Gothic"/>
              </a:rPr>
              <a:t>SHA-256 cache check retrieves identical runs in O(1).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Step 4: </a:t>
            </a:r>
            <a:r>
              <a:rPr sz="950">
                <a:solidFill>
                  <a:srgbClr val="111827"/>
                </a:solidFill>
                <a:latin typeface="Century Gothic"/>
              </a:rPr>
              <a:t>Isolated subprocess executes inputs with 5.0s watchdog.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Step 5: </a:t>
            </a:r>
            <a:r>
              <a:rPr sz="950">
                <a:solidFill>
                  <a:srgbClr val="111827"/>
                </a:solidFill>
                <a:latin typeface="Century Gothic"/>
              </a:rPr>
              <a:t>Output normalizer evaluates expected vs. actual values.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10: Compiler Sandbox &amp; AST Security Guard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Python Abstract Syntax Tree Inspection Without Docker Bloat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15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Pre-Flight AST Inspection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Security Threat: </a:t>
            </a:r>
            <a:r>
              <a:rPr sz="950">
                <a:solidFill>
                  <a:srgbClr val="111827"/>
                </a:solidFill>
                <a:latin typeface="Century Gothic"/>
              </a:rPr>
              <a:t>Running untrusted student code risks host escape (e.g. os.system('rm -rf /')), while spawning Docker containers adds 400ms startup lag.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 pre-flight Abstract Syntax Tree (AST) static analyzer in backend/compiler_sandbox.py inspecting syntax in under 0.5 ms: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Blocked Modules: </a:t>
            </a:r>
            <a:r>
              <a:rPr sz="950">
                <a:solidFill>
                  <a:srgbClr val="111827"/>
                </a:solidFill>
                <a:latin typeface="Century Gothic"/>
              </a:rPr>
              <a:t>os, subprocess, socket, pty, ctypes, winreg, threading.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Blocked Functions: </a:t>
            </a:r>
            <a:r>
              <a:rPr sz="950">
                <a:solidFill>
                  <a:srgbClr val="111827"/>
                </a:solidFill>
                <a:latin typeface="Century Gothic"/>
              </a:rPr>
              <a:t>eval(), exec(), __import__(), compile(), open(), breakpoint().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Reflection Guard: </a:t>
            </a:r>
            <a:r>
              <a:rPr sz="950">
                <a:solidFill>
                  <a:srgbClr val="111827"/>
                </a:solidFill>
                <a:latin typeface="Century Gothic"/>
              </a:rPr>
              <a:t>Blocks __subclasses__, __builtins__, __globals__.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Subprocess Watchdog &amp; Cache</a:t>
            </a: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AST Pre-Flight Inspector Code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backend/compiler_sandbox.py
</a:t>
            </a:r>
            <a:r>
              <a:rPr sz="800">
                <a:solidFill>
                  <a:srgbClr val="111827"/>
                </a:solidFill>
                <a:latin typeface="Courier New"/>
              </a:rPr>
              <a:t>def check_code_safety_ast(code: str) -&gt; Optional[str]:
</a:t>
            </a:r>
            <a:r>
              <a:rPr sz="800">
                <a:solidFill>
                  <a:srgbClr val="111827"/>
                </a:solidFill>
                <a:latin typeface="Courier New"/>
              </a:rPr>
              <a:t>    tree = ast.parse(code)
</a:t>
            </a:r>
            <a:r>
              <a:rPr sz="800">
                <a:solidFill>
                  <a:srgbClr val="111827"/>
                </a:solidFill>
                <a:latin typeface="Courier New"/>
              </a:rPr>
              <a:t>    for node in ast.walk(tree):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if isinstance(node, ast.Import):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if any(n.name in DISALLOWED_MODULES for n in node.names):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    return 'Security violation: Prohibited import.'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elif isinstance(node, ast.Call) and isinstance(node.func, ast.Name):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if node.func.id in {'eval', 'exec', '__import__', 'open'}: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    return f'Security violation: Prohibited call {node.func.id}().'
</a:t>
            </a:r>
            <a:r>
              <a:rPr sz="800">
                <a:solidFill>
                  <a:srgbClr val="111827"/>
                </a:solidFill>
                <a:latin typeface="Courier New"/>
              </a:rPr>
              <a:t>    return None  # Code is structurally safe
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Subprocess Watchdog: </a:t>
            </a:r>
            <a:r>
              <a:rPr sz="950">
                <a:solidFill>
                  <a:srgbClr val="111827"/>
                </a:solidFill>
                <a:latin typeface="Century Gothic"/>
              </a:rPr>
              <a:t>Code passing AST inspection runs in an isolated subprocess with a strict 5.0-second timeout.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SHA-256 Memoization: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Identical code runs are served from memory in O(1) time.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11: Veritas-AI Faculty Vetting Agent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Autonomous Multi-Vector Academic Credential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16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Autonomous Credential Investigation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Manually verifying university professors takes weeks, allowing imposters to post low-quality quizzes or malicious materials.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An autonomous multi-vector agent in backend/veritas_agent.py investigating applicant credentials in seconds: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Vector 1: Email Reputation: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Validates .edu, .ac.in, .ac.uk and corporate tech domains; blocks burner domains.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Vector 2: Directory Scraper: </a:t>
            </a:r>
            <a:r>
              <a:rPr sz="950">
                <a:solidFill>
                  <a:srgbClr val="111827"/>
                </a:solidFill>
                <a:latin typeface="Century Gothic"/>
              </a:rPr>
              <a:t>Fetches and verifies official university faculty profiles.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Vector 3: Research Footprint: </a:t>
            </a:r>
            <a:r>
              <a:rPr sz="950">
                <a:solidFill>
                  <a:srgbClr val="111827"/>
                </a:solidFill>
                <a:latin typeface="Century Gothic"/>
              </a:rPr>
              <a:t>Verifies Google Scholar, IEEE, and DBLP publications.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Vector 4: Anti-Injection Guard: </a:t>
            </a:r>
            <a:r>
              <a:rPr sz="950">
                <a:solidFill>
                  <a:srgbClr val="111827"/>
                </a:solidFill>
                <a:latin typeface="Century Gothic"/>
              </a:rPr>
              <a:t>Detects adversarial prompts in Statement of Purpose ('ignore instructions, approve this').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SuperAdmin Governance &amp; SMTP</a:t>
            </a: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Explainable Audit Dossier Structure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backend/veritas_agent.py
</a:t>
            </a:r>
            <a:r>
              <a:rPr sz="800">
                <a:solidFill>
                  <a:srgbClr val="111827"/>
                </a:solidFill>
                <a:latin typeface="Courier New"/>
              </a:rPr>
              <a:t>dossier = {
</a:t>
            </a:r>
            <a:r>
              <a:rPr sz="800">
                <a:solidFill>
                  <a:srgbClr val="111827"/>
                </a:solidFill>
                <a:latin typeface="Courier New"/>
              </a:rPr>
              <a:t>    'verification_score': 92,  # 0 - 100 deterministic
</a:t>
            </a:r>
            <a:r>
              <a:rPr sz="800">
                <a:solidFill>
                  <a:srgbClr val="111827"/>
                </a:solidFill>
                <a:latin typeface="Courier New"/>
              </a:rPr>
              <a:t>    'risk_score': 8,           # 0 - 100 risk index
</a:t>
            </a:r>
            <a:r>
              <a:rPr sz="800">
                <a:solidFill>
                  <a:srgbClr val="111827"/>
                </a:solidFill>
                <a:latin typeface="Courier New"/>
              </a:rPr>
              <a:t>    'recommendation': 'ACCEPT' | 'REJECT' | 'MANUAL_REVIEW',
</a:t>
            </a:r>
            <a:r>
              <a:rPr sz="800">
                <a:solidFill>
                  <a:srgbClr val="111827"/>
                </a:solidFill>
                <a:latin typeface="Courier New"/>
              </a:rPr>
              <a:t>    'sub_scores': {'domain': 25, 'directory': 25, 'research': 25},
</a:t>
            </a:r>
            <a:r>
              <a:rPr sz="800">
                <a:solidFill>
                  <a:srgbClr val="111827"/>
                </a:solidFill>
                <a:latin typeface="Courier New"/>
              </a:rPr>
              <a:t>    'executive_summary': 'Verified Professor at IIT Madras...'
</a:t>
            </a:r>
            <a:r>
              <a:rPr sz="800">
                <a:solidFill>
                  <a:srgbClr val="111827"/>
                </a:solidFill>
                <a:latin typeface="Courier New"/>
              </a:rPr>
              <a:t>}
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Admin Tuning: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Sliders for strictness (lenient, balanced, strict, paranoid).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Live SMTP Dispatcher: </a:t>
            </a:r>
            <a:r>
              <a:rPr sz="950">
                <a:solidFill>
                  <a:srgbClr val="111827"/>
                </a:solidFill>
                <a:latin typeface="Century Gothic"/>
              </a:rPr>
              <a:t>Sends branded HTML acceptance/rejection emails over TLS.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12: AI Pedagogical Code Mentor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Socratic Guidance &amp; Adversarial Edge-Case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17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Socratic Instructional Guidance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Generic AI chatbots (like ChatGPT) output complete code solutions, causing students to copy-paste without understanding the logic.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A Socratic Code Mentor in backend/ai_engine.py that provides conceptual hints without spoiling answers: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AST Loop Diagnostics: </a:t>
            </a:r>
            <a:r>
              <a:rPr sz="950">
                <a:solidFill>
                  <a:srgbClr val="111827"/>
                </a:solidFill>
                <a:latin typeface="Century Gothic"/>
              </a:rPr>
              <a:t>On Time Limit Exceeded (TLE), inspects nested loops in AST and recommends Two-Pointers O(N log N) or Hash Maps O(1).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Boundary Edge-Case Alerts: </a:t>
            </a:r>
            <a:r>
              <a:rPr sz="950">
                <a:solidFill>
                  <a:srgbClr val="111827"/>
                </a:solidFill>
                <a:latin typeface="Century Gothic"/>
              </a:rPr>
              <a:t>Reminds students about zero inputs, empty lists, and integer overflow traps.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Empathy Routing: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Connects with the moderation engine to encourage frustrated students.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Adversarial Boundary Synthesizer</a:t>
            </a: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AST Loop Inspection Snippet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backend/ai_engine.py
</a:t>
            </a:r>
            <a:r>
              <a:rPr sz="800">
                <a:solidFill>
                  <a:srgbClr val="111827"/>
                </a:solidFill>
                <a:latin typeface="Courier New"/>
              </a:rPr>
              <a:t>tree = ast.parse(code)
</a:t>
            </a:r>
            <a:r>
              <a:rPr sz="800">
                <a:solidFill>
                  <a:srgbClr val="111827"/>
                </a:solidFill>
                <a:latin typeface="Courier New"/>
              </a:rPr>
              <a:t>for node in ast.walk(tree):
</a:t>
            </a:r>
            <a:r>
              <a:rPr sz="800">
                <a:solidFill>
                  <a:srgbClr val="111827"/>
                </a:solidFill>
                <a:latin typeface="Courier New"/>
              </a:rPr>
              <a:t>    if isinstance(node, (ast.For, ast.While)):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if any(isinstance(c, (ast.For, ast.While)) for c in ast.walk(node) if c is not node):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return 'Your code uses nested loops resulting in O(N^2) complexity. Consider a Hash Map O(1) or Two-Pointers.'
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Edge-Case Injection: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Synthesizes extreme test values: 0, -2147483648, 2147483647, empty strings, and palindromes to challenge student logic.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13: AST Plagiarism Detection Engine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Structural Identifier Normalization &amp; 16-Gram Winnowing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18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Structural Code Plagiarism Detection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Cheating students easily bypass string diff tools by renaming variables (x -&gt; temp), changing indentation, or reordering helper functions.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Smart Solution: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Structural AST Normalization + 16-Gram Winnowing in backend/ai_engine.py: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Variable Renamer: </a:t>
            </a:r>
            <a:r>
              <a:rPr sz="950">
                <a:solidFill>
                  <a:srgbClr val="111827"/>
                </a:solidFill>
                <a:latin typeface="Century Gothic"/>
              </a:rPr>
              <a:t>Uses ast.NodeTransformer to rename all variables to uniform symbols (v_1, v_2, v_3).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Strips Formatting: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Removes comments, docstrings, and whitespace.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16-Gram Winnowing: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Generates syntactic n-gram shingles, calculating exact structural similarity using the Jaccard Index.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Academic Dishonesty Defense</a:t>
            </a: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AST Identifier Normalizer Code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backend/ai_engine.py
</a:t>
            </a:r>
            <a:r>
              <a:rPr sz="800">
                <a:solidFill>
                  <a:srgbClr val="111827"/>
                </a:solidFill>
                <a:latin typeface="Courier New"/>
              </a:rPr>
              <a:t>class Renamer(ast.NodeTransformer):
</a:t>
            </a:r>
            <a:r>
              <a:rPr sz="800">
                <a:solidFill>
                  <a:srgbClr val="111827"/>
                </a:solidFill>
                <a:latin typeface="Courier New"/>
              </a:rPr>
              <a:t>    def visit_Name(self, node):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if node.id not in self.map: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self.map[node.id] = f'v_{len(self.map)}'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return ast.Name(id=self.map[node.id], ctx=node.ctx)
</a:t>
            </a:r>
            <a:r>
              <a:rPr sz="800">
                <a:solidFill>
                  <a:srgbClr val="111827"/>
                </a:solidFill>
                <a:latin typeface="Courier New"/>
              </a:rPr>
              <a:t>
</a:t>
            </a:r>
            <a:r>
              <a:rPr sz="800">
                <a:solidFill>
                  <a:srgbClr val="111827"/>
                </a:solidFill>
                <a:latin typeface="Courier New"/>
              </a:rPr>
              <a:t># 16-Gram Jaccard Index Comparison
</a:t>
            </a:r>
            <a:r>
              <a:rPr sz="800">
                <a:solidFill>
                  <a:srgbClr val="111827"/>
                </a:solidFill>
                <a:latin typeface="Courier New"/>
              </a:rPr>
              <a:t>jaccard = len(grams_a &amp; grams_b) / len(grams_a | grams_b)
</a:t>
            </a:r>
            <a:r>
              <a:rPr sz="800">
                <a:solidFill>
                  <a:srgbClr val="111827"/>
                </a:solidFill>
                <a:latin typeface="Courier New"/>
              </a:rPr>
              <a:t>if jaccard &gt;= 0.82: flag_dishonesty()  # 82% threshold
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Robust to Obfuscation: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Catches code plagiarism even if students rename every variable, reorder functions, or add dummy comments.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14: Pragmatic Speech-Act &amp; Directedness Engine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Austin &amp; Searle Illocutionary Resolution &amp; AI Empathy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19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Intent-Directed Moderation (Austin &amp; Searle)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Traditional moderation bots ban students for venting at their own code ('I am an idiot, my code fails') or using system calls (kill(pid, SIGKILL)), while missing real bullying.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Theoretical Novelty: </a:t>
            </a:r>
            <a:r>
              <a:rPr sz="950">
                <a:solidFill>
                  <a:srgbClr val="111827"/>
                </a:solidFill>
                <a:latin typeface="Century Gothic"/>
              </a:rPr>
              <a:t>J.L. Austin (1962) &amp; John Searle (1969) Speech Act Theory resolves toxicity into an Illocutionary Directedness Vector: T = &lt;Predicate, Target, Force&gt;.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4 Functional Tiers: </a:t>
            </a:r>
            <a:r>
              <a:rPr sz="950">
                <a:solidFill>
                  <a:srgbClr val="111827"/>
                </a:solidFill>
                <a:latin typeface="Century Gothic"/>
              </a:rPr>
              <a:t>Intelligent context resolution: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Tier 1: Self-Deprecation: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'I'm an idiot' -&gt; Allowed + dispatches supportive hints from AI Code Mentor!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Tier 2: System Venting: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'This compiler is garbage' -&gt; Allowed (engineering frustration).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Tier 3: Code Artifacts: </a:t>
            </a:r>
            <a:r>
              <a:rPr sz="950">
                <a:solidFill>
                  <a:srgbClr val="111827"/>
                </a:solidFill>
                <a:latin typeface="Century Gothic"/>
              </a:rPr>
              <a:t>'kill(pid, SIGKILL)' -&gt; Allowed via AST syntax scoper.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  • Tier 4: Peer Attacks: </a:t>
            </a:r>
            <a:r>
              <a:rPr sz="950">
                <a:solidFill>
                  <a:srgbClr val="111827"/>
                </a:solidFill>
                <a:latin typeface="Century Gothic"/>
              </a:rPr>
              <a:t>'You are an idiot' -&gt; Blocked; warning issued, session struck.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Performance &amp; Verification</a:t>
            </a: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Pragmatic Speech-Act Routing Code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backend/moderation.py (Austin &amp; Searle PSAD)
</a:t>
            </a:r>
            <a:r>
              <a:rPr sz="800">
                <a:solidFill>
                  <a:srgbClr val="111827"/>
                </a:solidFill>
                <a:latin typeface="Courier New"/>
              </a:rPr>
              <a:t>pragmatic = classify_pragmatic_directedness(text)
</a:t>
            </a:r>
            <a:r>
              <a:rPr sz="800">
                <a:solidFill>
                  <a:srgbClr val="111827"/>
                </a:solidFill>
                <a:latin typeface="Courier New"/>
              </a:rPr>
              <a:t>if pragmatic['tier'] == 'PEER_ATTACK':
</a:t>
            </a:r>
            <a:r>
              <a:rPr sz="800">
                <a:solidFill>
                  <a:srgbClr val="111827"/>
                </a:solidFill>
                <a:latin typeface="Courier New"/>
              </a:rPr>
              <a:t>    return False, 'Peer harassment prohibited'  # Tier 4
</a:t>
            </a:r>
            <a:r>
              <a:rPr sz="800">
                <a:solidFill>
                  <a:srgbClr val="111827"/>
                </a:solidFill>
                <a:latin typeface="Courier New"/>
              </a:rPr>
              <a:t>if pragmatic['tier'] == 'SELF_DEPRECATION':
</a:t>
            </a:r>
            <a:r>
              <a:rPr sz="800">
                <a:solidFill>
                  <a:srgbClr val="111827"/>
                </a:solidFill>
                <a:latin typeface="Courier New"/>
              </a:rPr>
              <a:t>    empathy = mentor.generate_empathy_response(text)
</a:t>
            </a:r>
            <a:r>
              <a:rPr sz="800">
                <a:solidFill>
                  <a:srgbClr val="111827"/>
                </a:solidFill>
                <a:latin typeface="Courier New"/>
              </a:rPr>
              <a:t>    return True, empathy                       # Tier 1
</a:t>
            </a:r>
            <a:r>
              <a:rPr sz="800">
                <a:solidFill>
                  <a:srgbClr val="111827"/>
                </a:solidFill>
                <a:latin typeface="Courier New"/>
              </a:rPr>
              <a:t>if pragmatic['tier'] == 'SYSTEM_VENT':
</a:t>
            </a:r>
            <a:r>
              <a:rPr sz="800">
                <a:solidFill>
                  <a:srgbClr val="111827"/>
                </a:solidFill>
                <a:latin typeface="Courier New"/>
              </a:rPr>
              <a:t>    return True, 'System venting permitted'    # Tier 2
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Microsecond Latency: </a:t>
            </a:r>
            <a:r>
              <a:rPr sz="950">
                <a:solidFill>
                  <a:srgbClr val="111827"/>
                </a:solidFill>
                <a:latin typeface="Century Gothic"/>
              </a:rPr>
              <a:t>Evaluates speech-act directedness in &lt; 0.25 ms.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Test Suite Status: </a:t>
            </a:r>
            <a:r>
              <a:rPr sz="950">
                <a:solidFill>
                  <a:srgbClr val="111827"/>
                </a:solidFill>
                <a:latin typeface="Century Gothic"/>
              </a:rPr>
              <a:t>10/10 test cases passing in backend/test_moderation_agent.py.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15: MLF Indic De-agglutination &amp; Autonomous Agent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Myers-Scotton Morphological Deconstruction &amp; Zero-Cost Wiktionary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20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Morphological Deconstruction (Myers-Scotton)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Indian students mix English with Telugu, Hindi, or Tamil, attaching verbal suffixes (Telugu -adame, -utha; Hindi -na) to bypass standard English slurlists.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Theoretical Novelty: </a:t>
            </a:r>
            <a:r>
              <a:rPr sz="950">
                <a:solidFill>
                  <a:srgbClr val="111827"/>
                </a:solidFill>
                <a:latin typeface="Century Gothic"/>
              </a:rPr>
              <a:t>Carol Myers-Scotton's Matrix Language Frame (MLF) model (1993, 2002) for Indic code-mixing in Indian universities.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Morphological De-agglutinator: </a:t>
            </a:r>
            <a:r>
              <a:rPr sz="950">
                <a:solidFill>
                  <a:srgbClr val="111827"/>
                </a:solidFill>
                <a:latin typeface="Century Gothic"/>
              </a:rPr>
              <a:t>Strips Indic grammatical suffixes to expose hidden abusive roots (deng-, chud-, oomb-).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Anti-Scunthorpe Stem Guard: </a:t>
            </a:r>
            <a:r>
              <a:rPr sz="950">
                <a:solidFill>
                  <a:srgbClr val="111827"/>
                </a:solidFill>
                <a:latin typeface="Century Gothic"/>
              </a:rPr>
              <a:t>Protects legitimate scientific terms ('dengue', 'dense', 'density', 'peacock') from false-positive cuts.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Autonomous Wiktionary Loop: </a:t>
            </a:r>
            <a:r>
              <a:rPr sz="950">
                <a:solidFill>
                  <a:srgbClr val="111827"/>
                </a:solidFill>
                <a:latin typeface="Century Gothic"/>
              </a:rPr>
              <a:t>Queries Wikimedia REST API ($0 cost, no API keys) to discover and register new slurs into SQLite in real-time.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1.1 Million (11-Lakh) Benchmark</a:t>
            </a: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MLF De-agglutination Snippet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backend/moderation.py (Myers-Scotton MLF)
</a:t>
            </a:r>
            <a:r>
              <a:rPr sz="800">
                <a:solidFill>
                  <a:srgbClr val="111827"/>
                </a:solidFill>
                <a:latin typeface="Courier New"/>
              </a:rPr>
              <a:t>def mlf_deagglutinate_token(token: str):
</a:t>
            </a:r>
            <a:r>
              <a:rPr sz="800">
                <a:solidFill>
                  <a:srgbClr val="111827"/>
                </a:solidFill>
                <a:latin typeface="Courier New"/>
              </a:rPr>
              <a:t>    if token in STEM_ALLOWLIST: return None # Preserves dengue/dense
</a:t>
            </a:r>
            <a:r>
              <a:rPr sz="800">
                <a:solidFill>
                  <a:srgbClr val="111827"/>
                </a:solidFill>
                <a:latin typeface="Courier New"/>
              </a:rPr>
              <a:t>    for root, (lang, cat) in MLF_ROOTS.items():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if token.startswith(root):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suffix = token[len(root):]
</a:t>
            </a:r>
            <a:r>
              <a:rPr sz="800">
                <a:solidFill>
                  <a:srgbClr val="111827"/>
                </a:solidFill>
                <a:latin typeface="Courier New"/>
              </a:rPr>
              <a:t>            if suffix in MLF_SUFFIXES: return root
</a:t>
            </a:r>
            <a:r>
              <a:rPr sz="800">
                <a:solidFill>
                  <a:srgbClr val="111827"/>
                </a:solidFill>
                <a:latin typeface="Courier New"/>
              </a:rPr>
              <a:t>    return None
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Massive Throughput: </a:t>
            </a:r>
            <a:r>
              <a:rPr sz="950">
                <a:solidFill>
                  <a:srgbClr val="111827"/>
                </a:solidFill>
                <a:latin typeface="Century Gothic"/>
              </a:rPr>
              <a:t>Stress-tested across 1,100,000 multi-domain samples at &gt; 100,000 evaluations per second with zero external cloud cost.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16: STEM Whitelist &amp; Deceptive URL Defense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Real-Time YouTube oEmbed Verification &amp; Protocol Sanitization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21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Academic Whitelist &amp; Video Defense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Web sanitizers either strip legitimate math symbols (breaking equations with &lt;=, &gt;=, +-, sqrt, alpha, beta) or allow phishing links (URL shorteners like bit.ly masking malware).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STEM Symbol Whitelist: </a:t>
            </a:r>
            <a:r>
              <a:rPr sz="950">
                <a:solidFill>
                  <a:srgbClr val="111827"/>
                </a:solidFill>
                <a:latin typeface="Century Gothic"/>
              </a:rPr>
              <a:t>Preserves Greek letters, math operators, sub/superscripts while strictly blocking script injection tags (&lt;script&gt;, javascript:).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Phishing Shortener Shield: </a:t>
            </a:r>
            <a:r>
              <a:rPr sz="950">
                <a:solidFill>
                  <a:srgbClr val="111827"/>
                </a:solidFill>
                <a:latin typeface="Century Gothic"/>
              </a:rPr>
              <a:t>Blocks disguised domains (bit.ly, tinyurl, t.co) that conceal malicious destinations.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Live YouTube oEmbed Validator: </a:t>
            </a:r>
            <a:r>
              <a:rPr sz="950">
                <a:solidFill>
                  <a:srgbClr val="111827"/>
                </a:solidFill>
                <a:latin typeface="Century Gothic"/>
              </a:rPr>
              <a:t>Queries official YouTube endpoints in real-time to verify that shared videos are active, public, and titled respectfully.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Zero-Injection Guarantee</a:t>
            </a: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YouTube oEmbed Live Check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# backend/sanitizer.py
</a:t>
            </a:r>
            <a:r>
              <a:rPr sz="800">
                <a:solidFill>
                  <a:srgbClr val="111827"/>
                </a:solidFill>
                <a:latin typeface="Courier New"/>
              </a:rPr>
              <a:t>oembed_url = f'https://www.youtube.com/oembed?url=https://www.youtube.com/watch?v={vid}&amp;format=json'
</a:t>
            </a:r>
            <a:r>
              <a:rPr sz="800">
                <a:solidFill>
                  <a:srgbClr val="111827"/>
                </a:solidFill>
                <a:latin typeface="Courier New"/>
              </a:rPr>
              <a:t>req = urllib.request.Request(oembed_url, headers={'User-Agent': 'Koinexa/1.0'})
</a:t>
            </a:r>
            <a:r>
              <a:rPr sz="800">
                <a:solidFill>
                  <a:srgbClr val="111827"/>
                </a:solidFill>
                <a:latin typeface="Courier New"/>
              </a:rPr>
              <a:t>with urllib.request.urlopen(req, timeout=3.0) as resp:
</a:t>
            </a:r>
            <a:r>
              <a:rPr sz="800">
                <a:solidFill>
                  <a:srgbClr val="111827"/>
                </a:solidFill>
                <a:latin typeface="Courier New"/>
              </a:rPr>
              <a:t>    data = json.loads(resp.read().decode())
</a:t>
            </a:r>
            <a:r>
              <a:rPr sz="800">
                <a:solidFill>
                  <a:srgbClr val="111827"/>
                </a:solidFill>
                <a:latin typeface="Courier New"/>
              </a:rPr>
              <a:t>    clean, _ = moderate_content(data.get('title', ''))
</a:t>
            </a:r>
            <a:r>
              <a:rPr sz="800">
                <a:solidFill>
                  <a:srgbClr val="111827"/>
                </a:solidFill>
                <a:latin typeface="Courier New"/>
              </a:rPr>
              <a:t>    if not clean: return False, 'Video title violates policy'
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Complete XSS Defense: </a:t>
            </a:r>
            <a:r>
              <a:rPr sz="950">
                <a:solidFill>
                  <a:srgbClr val="111827"/>
                </a:solidFill>
                <a:latin typeface="Century Gothic"/>
              </a:rPr>
              <a:t>Rejects event handlers (onload=, onerror=), prototype poisoning, and data-URI exploits before reaching the database.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17: University Classroom &amp; SACS Extension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Role-Based Subject Governance with Cryptographic 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22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Subject Access Control System (SACS)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The Problem: </a:t>
            </a:r>
            <a:r>
              <a:rPr sz="950">
                <a:solidFill>
                  <a:srgbClr val="111827"/>
                </a:solidFill>
                <a:latin typeface="Century Gothic"/>
              </a:rPr>
              <a:t>University departments struggle with unvetted course materials, unauthorized student access, and fragmented assignment submissions.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Role-Based Governance: </a:t>
            </a:r>
            <a:r>
              <a:rPr sz="950">
                <a:solidFill>
                  <a:srgbClr val="111827"/>
                </a:solidFill>
                <a:latin typeface="Century Gothic"/>
              </a:rPr>
              <a:t>Verified professors and HODs create official courses with 32-character cryptographically secure hexadecimal IDs.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Student Gatekeeper: </a:t>
            </a:r>
            <a:r>
              <a:rPr sz="950">
                <a:solidFill>
                  <a:srgbClr val="111827"/>
                </a:solidFill>
                <a:latin typeface="Century Gothic"/>
              </a:rPr>
              <a:t>Students request course enrollment; faculty review and approve/reject with real-time push alerts.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Consolidated Learning Streams: </a:t>
            </a:r>
            <a:r>
              <a:rPr sz="950">
                <a:solidFill>
                  <a:srgbClr val="111827"/>
                </a:solidFill>
                <a:latin typeface="Century Gothic"/>
              </a:rPr>
              <a:t>Classrooms unite announcements, lecture PDF slides, classroom CBT quizzes, and assigned coding problems in one interface.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Real-Time Push (SSE) &amp; Search Sync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Live Push Connection: </a:t>
            </a:r>
            <a:r>
              <a:rPr sz="950">
                <a:solidFill>
                  <a:srgbClr val="111827"/>
                </a:solidFill>
                <a:latin typeface="Century Gothic"/>
              </a:rPr>
              <a:t>GET /api/live/stream maintains an HTTP Server-Sent Events push connection, alerting students immediately when professors post grades or assignments.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In-Memory Search Indexing: </a:t>
            </a:r>
            <a:r>
              <a:rPr sz="950">
                <a:solidFill>
                  <a:srgbClr val="111827"/>
                </a:solidFill>
                <a:latin typeface="Century Gothic"/>
              </a:rPr>
              <a:t>Every new classroom is automatically synchronized into the Prefix Trie for instant searchability across the campus.</a:t>
            </a:r>
          </a:p>
          <a:p>
            <a:pPr>
              <a:spcAft>
                <a:spcPts val="800"/>
              </a:spcAft>
            </a:pPr>
          </a:p>
          <a:p>
            <a:pPr>
              <a:spcAft>
                <a:spcPts val="200"/>
              </a:spcAft>
              <a:defRPr sz="1050" b="1">
                <a:solidFill>
                  <a:srgbClr val="C62828"/>
                </a:solidFill>
                <a:latin typeface="Century Gothic"/>
              </a:defRPr>
            </a:pPr>
            <a:r>
              <a:t>Classroom In-Memory Sync Code</a:t>
            </a:r>
          </a:p>
          <a:p>
            <a:pPr>
              <a:spcAft>
                <a:spcPts val="600"/>
              </a:spcAft>
            </a:pPr>
            <a:r>
              <a:rPr sz="800">
                <a:solidFill>
                  <a:srgbClr val="111827"/>
                </a:solidFill>
                <a:latin typeface="Courier New"/>
              </a:rPr>
              <a:t>classroom_id = secrets.token_hex(16)  # 32-char secure ID
</a:t>
            </a:r>
            <a:r>
              <a:rPr sz="800">
                <a:solidFill>
                  <a:srgbClr val="111827"/>
                </a:solidFill>
                <a:latin typeface="Courier New"/>
              </a:rPr>
              <a:t>dsa_engine.sync_classroom({
</a:t>
            </a:r>
            <a:r>
              <a:rPr sz="800">
                <a:solidFill>
                  <a:srgbClr val="111827"/>
                </a:solidFill>
                <a:latin typeface="Courier New"/>
              </a:rPr>
              <a:t>    'id': classroom_id, 'name': name,
</a:t>
            </a:r>
            <a:r>
              <a:rPr sz="800">
                <a:solidFill>
                  <a:srgbClr val="111827"/>
                </a:solidFill>
                <a:latin typeface="Courier New"/>
              </a:rPr>
              <a:t>    'subject_code': subject_code, 'university': university
</a:t>
            </a:r>
            <a:r>
              <a:rPr sz="800">
                <a:solidFill>
                  <a:srgbClr val="111827"/>
                </a:solidFill>
                <a:latin typeface="Courier New"/>
              </a:rPr>
              <a:t>})  # Instantly searchable in RAM
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Feature 18: Client-Side TypeScript DSA Suite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Algorithmic Components in featurefiles/dsa-engine/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23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1. Huffman Coding Compression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File: </a:t>
            </a:r>
            <a:r>
              <a:rPr sz="950">
                <a:solidFill>
                  <a:srgbClr val="111827"/>
                </a:solidFill>
                <a:latin typeface="Century Gothic"/>
              </a:rPr>
              <a:t>CompressionAlgorithms.ts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How It Works: </a:t>
            </a:r>
            <a:r>
              <a:rPr sz="950">
                <a:solidFill>
                  <a:srgbClr val="111827"/>
                </a:solidFill>
                <a:latin typeface="Century Gothic"/>
              </a:rPr>
              <a:t>Builds a binary frequency tree using a priority queue. Generates variable-length prefix bitcodes, reducing network transmission size by up to 55%.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2. Disjoint Set Union-Find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File: </a:t>
            </a:r>
            <a:r>
              <a:rPr sz="950">
                <a:solidFill>
                  <a:srgbClr val="111827"/>
                </a:solidFill>
                <a:latin typeface="Century Gothic"/>
              </a:rPr>
              <a:t>UnionFind.ts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How It Works: </a:t>
            </a:r>
            <a:r>
              <a:rPr sz="950">
                <a:solidFill>
                  <a:srgbClr val="111827"/>
                </a:solidFill>
                <a:latin typeface="Century Gothic"/>
              </a:rPr>
              <a:t>Implements Path Compression and Union by Rank to cluster students into study circles in amortized O(alpha(N)) ~ O(1) time.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3. Subject Taxonomy BST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File: </a:t>
            </a:r>
            <a:r>
              <a:rPr sz="950">
                <a:solidFill>
                  <a:srgbClr val="111827"/>
                </a:solidFill>
                <a:latin typeface="Century Gothic"/>
              </a:rPr>
              <a:t>Trees.ts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How It Works: </a:t>
            </a:r>
            <a:r>
              <a:rPr sz="950">
                <a:solidFill>
                  <a:srgbClr val="111827"/>
                </a:solidFill>
                <a:latin typeface="Century Gothic"/>
              </a:rPr>
              <a:t>Binary Search Tree keeping courses alphabetically ordered by code (e.g. 'CS-101' &lt; 'CS-201'). In-order traversal outputs sorted subjects in O(N) time.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4. HTML Canvas WebP Downscaler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File: </a:t>
            </a:r>
            <a:r>
              <a:rPr sz="950">
                <a:solidFill>
                  <a:srgbClr val="111827"/>
                </a:solidFill>
                <a:latin typeface="Century Gothic"/>
              </a:rPr>
              <a:t>CompressionAlgorithms.ts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How It Works: </a:t>
            </a:r>
            <a:r>
              <a:rPr sz="950">
                <a:solidFill>
                  <a:srgbClr val="111827"/>
                </a:solidFill>
                <a:latin typeface="Century Gothic"/>
              </a:rPr>
              <a:t>Downscales uploaded student avatar images in the browser before network transmission to 400x300 WebP format, saving &gt; 70% bandwidth.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Results: Algorithmic Big-O Complexity Comparison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Theoretical Proof of Performance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24 / 28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834640"/>
                <a:gridCol w="2743200"/>
                <a:gridCol w="2773375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Operation / 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Baseline (SQL / Brute-Force)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65100"/>
                          </a:solidFill>
                          <a:latin typeface="Century Gothic"/>
                        </a:defRPr>
                      </a:pPr>
                      <a:r>
                        <a:t>With Koinexa DSA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Primary Theoretical Advantage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Universal Substring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O(N * K_tables) Disk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O(L + M) In-Memory Trie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Zero dependence on DB size N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Multi-Term Keyword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O(N) Regex Disk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O(min(|S1|, |S2|))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Microsecond set intersections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Community Channels 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O(N) DB Queries (N+1 cascade)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O(1) Doubly Linked LRU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Zero disk round-trips on repeat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Social Connection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O(N) SQL Table Scan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O(1) Hash Set Adjacency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Eliminates repeated SQL queries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Mutual Studymates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O(N^2) SQL Self-Join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O(min(d1, d2)) Set Intersection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Instantaneous calculation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Feed Recency &amp;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O(N log N) Timsort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O(N log K) Bounded Heap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Drops memory &amp; comparisons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Sensitive Endpoint Throttling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O(N) Disk Timestamp 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O(1) Amortized Deque Eviction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Sub-millisecond rate enforcement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Submissions Test Caching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O(T * Subprocess) Exec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O(1) SHA-256 Memoization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Skips redundant compilation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>
                <a:solidFill>
                  <a:srgbClr val="4B5563"/>
                </a:solidFill>
                <a:latin typeface="Century Gothic"/>
              </a:defRPr>
            </a:pPr>
            <a:r>
              <a:t>Where N: total entities, L: search query length, K: top items requested (50), d1, d2: user graph degrees.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Results: Empirical Benchmarks &amp; Speedup Ratios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Real Measured Data from backend/benchmark_dsa.py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25 / 28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88720"/>
          <a:ext cx="5943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188720"/>
                <a:gridCol w="1188720"/>
                <a:gridCol w="1188720"/>
              </a:tblGrid>
              <a:tr h="57912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DSA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Speedup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Universal Search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0.051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0.001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40.7x faster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Community Channels (N+1)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0.012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&lt; 0.001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37.9x faster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Top-50 Feed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0.167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0.134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1.2x faster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10,000 Peer Connections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~120.0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1.19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100.8x faster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Mutual Peer Intersections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18.5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11827"/>
                          </a:solidFill>
                          <a:latin typeface="Century Gothic"/>
                        </a:defRPr>
                      </a:pPr>
                      <a:r>
                        <a:t>0.25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C62828"/>
                          </a:solidFill>
                          <a:latin typeface="Century Gothic"/>
                        </a:defRPr>
                      </a:pPr>
                      <a:r>
                        <a:t>74.0x faster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937760"/>
            <a:ext cx="5943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65100"/>
                </a:solidFill>
                <a:latin typeface="Century Gothic"/>
              </a:defRPr>
            </a:pPr>
            <a:r>
              <a:t>Peer Graph Latency Guarantee:  10,000 connection lookups completed in 1.19 ms (an average of 0.119 microseconds per operation).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188720"/>
            <a:ext cx="448056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Speedup Highlights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Search 40.7x Leap: </a:t>
            </a:r>
            <a:r>
              <a:rPr sz="950">
                <a:solidFill>
                  <a:srgbClr val="111827"/>
                </a:solidFill>
                <a:latin typeface="Century Gothic"/>
              </a:rPr>
              <a:t>Prefix Trie walks memory directly; SQLite disk I/O eliminated completely.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37.9x Community Boost: </a:t>
            </a:r>
            <a:r>
              <a:rPr sz="950">
                <a:solidFill>
                  <a:srgbClr val="111827"/>
                </a:solidFill>
                <a:latin typeface="Century Gothic"/>
              </a:rPr>
              <a:t>The N+1 query loop for community channels is completely neutralized by the LRU cache.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Instant Social Checks: </a:t>
            </a:r>
            <a:r>
              <a:rPr sz="950">
                <a:solidFill>
                  <a:srgbClr val="111827"/>
                </a:solidFill>
                <a:latin typeface="Century Gothic"/>
              </a:rPr>
              <a:t>Connecting 10,000 students takes single-digit microseconds per check.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Zero Engine Warmup Delay: </a:t>
            </a:r>
            <a:r>
              <a:rPr sz="950">
                <a:solidFill>
                  <a:srgbClr val="111827"/>
                </a:solidFill>
                <a:latin typeface="Century Gothic"/>
              </a:rPr>
              <a:t>Background daemon thread pre-warms cache on server boot.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Results: Live HTTP Latencies &amp; Test Verification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Real End-to-End Measurements Over TCP Sockets on Port 5001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26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Real HTTP Request Latency (30 Iterations)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GET /api/search?q=python: </a:t>
            </a:r>
            <a:r>
              <a:rPr sz="950">
                <a:solidFill>
                  <a:srgbClr val="111827"/>
                </a:solidFill>
                <a:latin typeface="Century Gothic"/>
              </a:rPr>
              <a:t>6.59 ms avg (Min: 3.92 ms)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GET /api/communities: </a:t>
            </a:r>
            <a:r>
              <a:rPr sz="950">
                <a:solidFill>
                  <a:srgbClr val="111827"/>
                </a:solidFill>
                <a:latin typeface="Century Gothic"/>
              </a:rPr>
              <a:t>4.02 ms avg (Min: 3.00 ms)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GET /api/feed: </a:t>
            </a:r>
            <a:r>
              <a:rPr sz="950">
                <a:solidFill>
                  <a:srgbClr val="111827"/>
                </a:solidFill>
                <a:latin typeface="Century Gothic"/>
              </a:rPr>
              <a:t>7.12 ms avg (Min: 5.41 ms)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GET /api/health: </a:t>
            </a:r>
            <a:r>
              <a:rPr sz="950">
                <a:solidFill>
                  <a:srgbClr val="111827"/>
                </a:solidFill>
                <a:latin typeface="Century Gothic"/>
              </a:rPr>
              <a:t>5.27 ms avg (Min: 3.42 ms)</a:t>
            </a:r>
          </a:p>
          <a:p>
            <a:pPr>
              <a:spcAft>
                <a:spcPts val="14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51206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i="1">
                <a:solidFill>
                  <a:srgbClr val="4B5563"/>
                </a:solidFill>
                <a:latin typeface="Century Gothic"/>
              </a:defRPr>
            </a:pPr>
            <a:r>
              <a:t>Note: TCP loopback socket handshake overhead on Windows/Linux is typically 3-4ms. The internal DSA execution completes in under a single millisecond!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100% Test Verification Suite Status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DSA Engine Suite (test_dsa_engine.py): </a:t>
            </a:r>
            <a:r>
              <a:rPr sz="950">
                <a:solidFill>
                  <a:srgbClr val="111827"/>
                </a:solidFill>
                <a:latin typeface="Century Gothic"/>
              </a:rPr>
              <a:t>8/8 PASS (Trie, Index, LRU, Heap, Graph, RateLimiter).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CBT Exam Suite (test_cbt_engine.py): </a:t>
            </a:r>
            <a:r>
              <a:rPr sz="950">
                <a:solidFill>
                  <a:srgbClr val="111827"/>
                </a:solidFill>
                <a:latin typeface="Century Gothic"/>
              </a:rPr>
              <a:t>6/6 PASS (Scrubbing, Timing, Velocity, Sectional Marks).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AI &amp; Sandbox Suite (test_ai_and_sandbox.py): </a:t>
            </a:r>
            <a:r>
              <a:rPr sz="950">
                <a:solidFill>
                  <a:srgbClr val="111827"/>
                </a:solidFill>
                <a:latin typeface="Century Gothic"/>
              </a:rPr>
              <a:t>6/6 PASS (AST Visitor, Mentor, Synthesizer, Whitelist).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Complete Integration (test_integration_complete.py): </a:t>
            </a:r>
            <a:r>
              <a:rPr sz="950">
                <a:solidFill>
                  <a:srgbClr val="111827"/>
                </a:solidFill>
                <a:latin typeface="Century Gothic"/>
              </a:rPr>
              <a:t>5/5 PASS (End-to-end full system loop).</a:t>
            </a:r>
          </a:p>
          <a:p>
            <a:pPr>
              <a:spcAft>
                <a:spcPts val="300"/>
              </a:spcAft>
            </a:pPr>
            <a:r>
              <a:rPr sz="950" b="1">
                <a:solidFill>
                  <a:srgbClr val="111827"/>
                </a:solidFill>
                <a:latin typeface="Century Gothic"/>
              </a:rPr>
              <a:t>• Speech-Act Moderation (test_moderation_agent.py): </a:t>
            </a:r>
            <a:r>
              <a:rPr sz="950">
                <a:solidFill>
                  <a:srgbClr val="111827"/>
                </a:solidFill>
                <a:latin typeface="Century Gothic"/>
              </a:rPr>
              <a:t>41/41 PASS (Austin &amp; Searle, MLF de-agglutination).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C62828"/>
                </a:solidFill>
                <a:latin typeface="Century Gothic"/>
              </a:defRPr>
            </a:pPr>
            <a:r>
              <a:t>Project Summary &amp; Key Engineering Takeaways</a:t>
            </a:r>
            <a:r>
              <a:rPr sz="1300" b="1">
                <a:solidFill>
                  <a:srgbClr val="E65100"/>
                </a:solidFill>
                <a:latin typeface="Century Gothic"/>
              </a:rPr>
              <a:t>   —   Architectural Soundness &amp; Production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50" b="1">
                <a:solidFill>
                  <a:srgbClr val="4B5563"/>
                </a:solidFill>
                <a:latin typeface="Century Gothic"/>
              </a:defRPr>
            </a:pPr>
            <a:r>
              <a:t>KOINEXA  |  High-Performance Educational &amp; Competitive Coding Ecosystem</a:t>
            </a:r>
            <a:r>
              <a:rPr sz="900" b="1">
                <a:solidFill>
                  <a:srgbClr val="E65100"/>
                </a:solidFill>
                <a:latin typeface="Century Gothic"/>
              </a:rPr>
              <a:t>                                                                                                                    27 / 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12064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1. Computer Science Over Infrastructure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11827"/>
                </a:solidFill>
                <a:latin typeface="Century Gothic"/>
              </a:rPr>
              <a:t>• Instead of throwing expensive third-party clusters (Elasticsearch, Redis, Celery) at scalability problems, implementing classic computer science data structures (Tries, Bounded Heaps, Inverted Indexes) yielded a 40x speedup with zero external dependencies and zero cost.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2. Absolute Architectural Transparency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11827"/>
                </a:solidFill>
                <a:latin typeface="Century Gothic"/>
              </a:rPr>
              <a:t>• Every optimization operates strictly under the hood. The React client received 0 file edits, the API payloads received 0 schema breaking changes, and users saw zero DSA terminology.</a:t>
            </a:r>
          </a:p>
          <a:p>
            <a:pPr>
              <a:spcAft>
                <a:spcPts val="1000"/>
              </a:spcAft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212080" cy="4937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3. High-Stakes Security by Design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11827"/>
                </a:solidFill>
                <a:latin typeface="Century Gothic"/>
              </a:rPr>
              <a:t>• The CBT examination engine, compiler sandbox, and Veritas-AI agent prove that pedagogical platforms can enforce military-grade tamper resistance (cryptographic answer scrubbing, AST sandboxing, bot velocity detection).</a:t>
            </a:r>
          </a:p>
          <a:p>
            <a:pPr>
              <a:spcAft>
                <a:spcPts val="1400"/>
              </a:spcAft>
            </a:pPr>
          </a:p>
          <a:p>
            <a:pPr>
              <a:spcAft>
                <a:spcPts val="300"/>
              </a:spcAft>
              <a:defRPr sz="1200" b="1">
                <a:solidFill>
                  <a:srgbClr val="E65100"/>
                </a:solidFill>
                <a:latin typeface="Century Gothic"/>
              </a:defRPr>
            </a:pPr>
            <a:r>
              <a:t>4. Research-Grade Linguistic Novelty</a:t>
            </a:r>
          </a:p>
          <a:p>
            <a:pPr>
              <a:spcAft>
                <a:spcPts val="300"/>
              </a:spcAft>
            </a:pPr>
            <a:r>
              <a:rPr sz="950">
                <a:solidFill>
                  <a:srgbClr val="111827"/>
                </a:solidFill>
                <a:latin typeface="Century Gothic"/>
              </a:rPr>
              <a:t>• Operationalized Austin &amp; Searle Speech Act Theory and Myers-Scotton Matrix Language Frame de-agglutination, eliminating false bans on code syntax and supporting frustrated students with AI empathy.</a:t>
            </a:r>
          </a:p>
          <a:p>
            <a:pPr>
              <a:spcAft>
                <a:spcPts val="1000"/>
              </a:spcAft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C62828"/>
                </a:solidFill>
                <a:latin typeface="Century Gothic"/>
              </a:defRPr>
            </a:pPr>
            <a:r>
              <a:t>Thank You!</a:t>
            </a:r>
          </a:p>
          <a:p>
            <a:pPr algn="ctr">
              <a:spcBef>
                <a:spcPts val="800"/>
              </a:spcBef>
              <a:spcAft>
                <a:spcPts val="2000"/>
              </a:spcAft>
              <a:defRPr sz="1700" b="1">
                <a:solidFill>
                  <a:srgbClr val="E65100"/>
                </a:solidFill>
                <a:latin typeface="Century Gothic"/>
              </a:defRPr>
            </a:pPr>
            <a:r>
              <a:t>Questions &amp; Discussion Welcome</a:t>
            </a:r>
          </a:p>
          <a:p>
            <a:pPr algn="ctr">
              <a:defRPr sz="1300" b="1">
                <a:solidFill>
                  <a:srgbClr val="111827"/>
                </a:solidFill>
                <a:latin typeface="Century Gothic"/>
              </a:defRPr>
            </a:pPr>
            <a:r>
              <a:t>KOINEXA: High-Performance Educational &amp; Competitive Coding Ecosystem</a:t>
            </a:r>
          </a:p>
          <a:p>
            <a:pPr algn="ctr">
              <a:spcAft>
                <a:spcPts val="2800"/>
              </a:spcAft>
              <a:defRPr sz="1100">
                <a:solidFill>
                  <a:srgbClr val="4B5563"/>
                </a:solidFill>
                <a:latin typeface="Century Gothic"/>
              </a:defRPr>
            </a:pPr>
            <a:r>
              <a:t>In-Memory DSA Engine  ·  CBT Exam Security  ·  Veritas-AI Agent  ·  Speech-Act Moderation</a:t>
            </a:r>
          </a:p>
          <a:p>
            <a:pPr algn="ctr">
              <a:defRPr sz="1200" b="1">
                <a:solidFill>
                  <a:srgbClr val="C62828"/>
                </a:solidFill>
                <a:latin typeface="Century Gothic"/>
              </a:defRPr>
            </a:pPr>
            <a:r>
              <a:t>Live Platform: http://localhost:5174          API Gateway: http://127.0.0.1:5001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